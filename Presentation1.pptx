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notesMasterIdLst>
    <p:notesMasterId r:id="rId15"/>
  </p:notesMasterIdLst>
  <p:sldIdLst>
    <p:sldId id="256" r:id="rId2"/>
    <p:sldId id="258" r:id="rId3"/>
    <p:sldId id="261" r:id="rId4"/>
    <p:sldId id="257" r:id="rId5"/>
    <p:sldId id="259" r:id="rId6"/>
    <p:sldId id="260"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98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D:\Skillovilla\Project\Excel_Project\Excel%20CapstoneTransactionData_.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Skillovilla\Project\Excel_Project\Excel%20CapstoneTransactionData_.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Skillovilla\Project\Excel_Project\Excel%20CapstoneTransactionData_.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Skillovilla\Project\Excel_Project\Excel%20CapstoneTransactionData_.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Skillovilla\Project\Excel_Project\Excel%20CapstoneTransactionData_.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Skillovilla\Project\Excel_Project\Excel%20CapstoneTransactionData_.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Skillovilla\Project\Excel_Project\Excel%20CapstoneTransactionData_.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CapstoneTransactionData_.xlsx]Order level Analysis!PivotTable1</c:name>
    <c:fmtId val="136"/>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1600" b="1" i="0" u="none" strike="noStrike" baseline="0">
                <a:effectLst/>
              </a:rPr>
              <a:t>Order distribution </a:t>
            </a:r>
            <a:endParaRPr lang="en-US"/>
          </a:p>
        </c:rich>
      </c:tx>
      <c:layout>
        <c:manualLayout>
          <c:xMode val="edge"/>
          <c:yMode val="edge"/>
          <c:x val="0.29725678040244968"/>
          <c:y val="4.9905220180810735E-2"/>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chemeClr val="accent5"/>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w="9525">
              <a:solidFill>
                <a:schemeClr val="accent1">
                  <a:lumMod val="6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w="9525">
              <a:solidFill>
                <a:schemeClr val="accent2">
                  <a:lumMod val="6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w="9525">
              <a:solidFill>
                <a:schemeClr val="accent3">
                  <a:lumMod val="6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w="9525">
              <a:solidFill>
                <a:schemeClr val="accent4">
                  <a:lumMod val="6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w="9525">
              <a:solidFill>
                <a:schemeClr val="accent5">
                  <a:lumMod val="6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w="9525">
              <a:solidFill>
                <a:schemeClr val="accent6">
                  <a:lumMod val="6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w="9525">
              <a:solidFill>
                <a:schemeClr val="accent1">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w="9525">
              <a:solidFill>
                <a:schemeClr val="accent2">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w="9525">
              <a:solidFill>
                <a:schemeClr val="accent3">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w="9525">
              <a:solidFill>
                <a:schemeClr val="accent4">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5">
                    <a:lumMod val="80000"/>
                    <a:lumOff val="20000"/>
                    <a:satMod val="103000"/>
                    <a:lumMod val="102000"/>
                    <a:tint val="94000"/>
                  </a:schemeClr>
                </a:gs>
                <a:gs pos="50000">
                  <a:schemeClr val="accent5">
                    <a:lumMod val="80000"/>
                    <a:lumOff val="20000"/>
                    <a:satMod val="110000"/>
                    <a:lumMod val="100000"/>
                    <a:shade val="100000"/>
                  </a:schemeClr>
                </a:gs>
                <a:gs pos="100000">
                  <a:schemeClr val="accent5">
                    <a:lumMod val="80000"/>
                    <a:lumOff val="20000"/>
                    <a:lumMod val="99000"/>
                    <a:satMod val="120000"/>
                    <a:shade val="78000"/>
                  </a:schemeClr>
                </a:gs>
              </a:gsLst>
              <a:lin ang="5400000" scaled="0"/>
            </a:gradFill>
            <a:ln w="9525">
              <a:solidFill>
                <a:schemeClr val="accent5">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6">
                    <a:lumMod val="80000"/>
                    <a:lumOff val="20000"/>
                    <a:satMod val="103000"/>
                    <a:lumMod val="102000"/>
                    <a:tint val="94000"/>
                  </a:schemeClr>
                </a:gs>
                <a:gs pos="50000">
                  <a:schemeClr val="accent6">
                    <a:lumMod val="80000"/>
                    <a:lumOff val="20000"/>
                    <a:satMod val="110000"/>
                    <a:lumMod val="100000"/>
                    <a:shade val="100000"/>
                  </a:schemeClr>
                </a:gs>
                <a:gs pos="100000">
                  <a:schemeClr val="accent6">
                    <a:lumMod val="80000"/>
                    <a:lumOff val="20000"/>
                    <a:lumMod val="99000"/>
                    <a:satMod val="120000"/>
                    <a:shade val="78000"/>
                  </a:schemeClr>
                </a:gs>
              </a:gsLst>
              <a:lin ang="5400000" scaled="0"/>
            </a:gradFill>
            <a:ln w="9525">
              <a:solidFill>
                <a:schemeClr val="accent6">
                  <a:lumMod val="80000"/>
                  <a:lumOff val="2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lumMod val="80000"/>
                    <a:satMod val="103000"/>
                    <a:lumMod val="102000"/>
                    <a:tint val="94000"/>
                  </a:schemeClr>
                </a:gs>
                <a:gs pos="50000">
                  <a:schemeClr val="accent1">
                    <a:lumMod val="80000"/>
                    <a:satMod val="110000"/>
                    <a:lumMod val="100000"/>
                    <a:shade val="100000"/>
                  </a:schemeClr>
                </a:gs>
                <a:gs pos="100000">
                  <a:schemeClr val="accent1">
                    <a:lumMod val="80000"/>
                    <a:lumMod val="99000"/>
                    <a:satMod val="120000"/>
                    <a:shade val="78000"/>
                  </a:schemeClr>
                </a:gs>
              </a:gsLst>
              <a:lin ang="5400000" scaled="0"/>
            </a:gradFill>
            <a:ln w="9525">
              <a:solidFill>
                <a:schemeClr val="accent1">
                  <a:lumMod val="8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lumMod val="80000"/>
                    <a:satMod val="103000"/>
                    <a:lumMod val="102000"/>
                    <a:tint val="94000"/>
                  </a:schemeClr>
                </a:gs>
                <a:gs pos="50000">
                  <a:schemeClr val="accent2">
                    <a:lumMod val="80000"/>
                    <a:satMod val="110000"/>
                    <a:lumMod val="100000"/>
                    <a:shade val="100000"/>
                  </a:schemeClr>
                </a:gs>
                <a:gs pos="100000">
                  <a:schemeClr val="accent2">
                    <a:lumMod val="80000"/>
                    <a:lumMod val="99000"/>
                    <a:satMod val="120000"/>
                    <a:shade val="78000"/>
                  </a:schemeClr>
                </a:gs>
              </a:gsLst>
              <a:lin ang="5400000" scaled="0"/>
            </a:gradFill>
            <a:ln w="9525">
              <a:solidFill>
                <a:schemeClr val="accent2">
                  <a:lumMod val="8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3">
                    <a:lumMod val="80000"/>
                    <a:satMod val="103000"/>
                    <a:lumMod val="102000"/>
                    <a:tint val="94000"/>
                  </a:schemeClr>
                </a:gs>
                <a:gs pos="50000">
                  <a:schemeClr val="accent3">
                    <a:lumMod val="80000"/>
                    <a:satMod val="110000"/>
                    <a:lumMod val="100000"/>
                    <a:shade val="100000"/>
                  </a:schemeClr>
                </a:gs>
                <a:gs pos="100000">
                  <a:schemeClr val="accent3">
                    <a:lumMod val="80000"/>
                    <a:lumMod val="99000"/>
                    <a:satMod val="120000"/>
                    <a:shade val="78000"/>
                  </a:schemeClr>
                </a:gs>
              </a:gsLst>
              <a:lin ang="5400000" scaled="0"/>
            </a:gradFill>
            <a:ln w="9525">
              <a:solidFill>
                <a:schemeClr val="accent3">
                  <a:lumMod val="8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4">
                    <a:lumMod val="80000"/>
                    <a:satMod val="103000"/>
                    <a:lumMod val="102000"/>
                    <a:tint val="94000"/>
                  </a:schemeClr>
                </a:gs>
                <a:gs pos="50000">
                  <a:schemeClr val="accent4">
                    <a:lumMod val="80000"/>
                    <a:satMod val="110000"/>
                    <a:lumMod val="100000"/>
                    <a:shade val="100000"/>
                  </a:schemeClr>
                </a:gs>
                <a:gs pos="100000">
                  <a:schemeClr val="accent4">
                    <a:lumMod val="80000"/>
                    <a:lumMod val="99000"/>
                    <a:satMod val="120000"/>
                    <a:shade val="78000"/>
                  </a:schemeClr>
                </a:gs>
              </a:gsLst>
              <a:lin ang="5400000" scaled="0"/>
            </a:gradFill>
            <a:ln w="9525">
              <a:solidFill>
                <a:schemeClr val="accent4">
                  <a:lumMod val="8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5">
                    <a:lumMod val="80000"/>
                    <a:satMod val="103000"/>
                    <a:lumMod val="102000"/>
                    <a:tint val="94000"/>
                  </a:schemeClr>
                </a:gs>
                <a:gs pos="50000">
                  <a:schemeClr val="accent5">
                    <a:lumMod val="80000"/>
                    <a:satMod val="110000"/>
                    <a:lumMod val="100000"/>
                    <a:shade val="100000"/>
                  </a:schemeClr>
                </a:gs>
                <a:gs pos="100000">
                  <a:schemeClr val="accent5">
                    <a:lumMod val="80000"/>
                    <a:lumMod val="99000"/>
                    <a:satMod val="120000"/>
                    <a:shade val="78000"/>
                  </a:schemeClr>
                </a:gs>
              </a:gsLst>
              <a:lin ang="5400000" scaled="0"/>
            </a:gradFill>
            <a:ln w="9525">
              <a:solidFill>
                <a:schemeClr val="accent5">
                  <a:lumMod val="8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6">
                    <a:lumMod val="80000"/>
                    <a:satMod val="103000"/>
                    <a:lumMod val="102000"/>
                    <a:tint val="94000"/>
                  </a:schemeClr>
                </a:gs>
                <a:gs pos="50000">
                  <a:schemeClr val="accent6">
                    <a:lumMod val="80000"/>
                    <a:satMod val="110000"/>
                    <a:lumMod val="100000"/>
                    <a:shade val="100000"/>
                  </a:schemeClr>
                </a:gs>
                <a:gs pos="100000">
                  <a:schemeClr val="accent6">
                    <a:lumMod val="80000"/>
                    <a:lumMod val="99000"/>
                    <a:satMod val="120000"/>
                    <a:shade val="78000"/>
                  </a:schemeClr>
                </a:gs>
              </a:gsLst>
              <a:lin ang="5400000" scaled="0"/>
            </a:gradFill>
            <a:ln w="9525">
              <a:solidFill>
                <a:schemeClr val="accent6">
                  <a:lumMod val="8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lumMod val="60000"/>
                    <a:lumOff val="40000"/>
                    <a:satMod val="103000"/>
                    <a:lumMod val="102000"/>
                    <a:tint val="94000"/>
                  </a:schemeClr>
                </a:gs>
                <a:gs pos="50000">
                  <a:schemeClr val="accent1">
                    <a:lumMod val="60000"/>
                    <a:lumOff val="40000"/>
                    <a:satMod val="110000"/>
                    <a:lumMod val="100000"/>
                    <a:shade val="100000"/>
                  </a:schemeClr>
                </a:gs>
                <a:gs pos="100000">
                  <a:schemeClr val="accent1">
                    <a:lumMod val="60000"/>
                    <a:lumOff val="40000"/>
                    <a:lumMod val="99000"/>
                    <a:satMod val="120000"/>
                    <a:shade val="78000"/>
                  </a:schemeClr>
                </a:gs>
              </a:gsLst>
              <a:lin ang="5400000" scaled="0"/>
            </a:gradFill>
            <a:ln w="9525">
              <a:solidFill>
                <a:schemeClr val="accent1">
                  <a:lumMod val="60000"/>
                  <a:lumOff val="4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lumMod val="60000"/>
                    <a:lumOff val="40000"/>
                    <a:satMod val="103000"/>
                    <a:lumMod val="102000"/>
                    <a:tint val="94000"/>
                  </a:schemeClr>
                </a:gs>
                <a:gs pos="50000">
                  <a:schemeClr val="accent2">
                    <a:lumMod val="60000"/>
                    <a:lumOff val="40000"/>
                    <a:satMod val="110000"/>
                    <a:lumMod val="100000"/>
                    <a:shade val="100000"/>
                  </a:schemeClr>
                </a:gs>
                <a:gs pos="100000">
                  <a:schemeClr val="accent2">
                    <a:lumMod val="60000"/>
                    <a:lumOff val="40000"/>
                    <a:lumMod val="99000"/>
                    <a:satMod val="120000"/>
                    <a:shade val="78000"/>
                  </a:schemeClr>
                </a:gs>
              </a:gsLst>
              <a:lin ang="5400000" scaled="0"/>
            </a:gradFill>
            <a:ln w="9525">
              <a:solidFill>
                <a:schemeClr val="accent2">
                  <a:lumMod val="60000"/>
                  <a:lumOff val="4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3">
                    <a:lumMod val="60000"/>
                    <a:lumOff val="40000"/>
                    <a:satMod val="103000"/>
                    <a:lumMod val="102000"/>
                    <a:tint val="94000"/>
                  </a:schemeClr>
                </a:gs>
                <a:gs pos="50000">
                  <a:schemeClr val="accent3">
                    <a:lumMod val="60000"/>
                    <a:lumOff val="40000"/>
                    <a:satMod val="110000"/>
                    <a:lumMod val="100000"/>
                    <a:shade val="100000"/>
                  </a:schemeClr>
                </a:gs>
                <a:gs pos="100000">
                  <a:schemeClr val="accent3">
                    <a:lumMod val="60000"/>
                    <a:lumOff val="40000"/>
                    <a:lumMod val="99000"/>
                    <a:satMod val="120000"/>
                    <a:shade val="78000"/>
                  </a:schemeClr>
                </a:gs>
              </a:gsLst>
              <a:lin ang="5400000" scaled="0"/>
            </a:gradFill>
            <a:ln w="9525">
              <a:solidFill>
                <a:schemeClr val="accent3">
                  <a:lumMod val="60000"/>
                  <a:lumOff val="4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lt1"/>
          </a:solidFill>
          <a:ln w="12700" cap="flat" cmpd="sng" algn="ctr">
            <a:solidFill>
              <a:schemeClr val="accent2"/>
            </a:solidFill>
            <a:prstDash val="solid"/>
            <a:miter lim="800000"/>
          </a:ln>
          <a:effectLst/>
          <a:scene3d>
            <a:camera prst="orthographicFront">
              <a:rot lat="0" lon="0" rev="0"/>
            </a:camera>
            <a:lightRig rig="threePt" dir="tl"/>
          </a:scene3d>
          <a:sp3d prstMaterial="plastic">
            <a:bevelT w="0" h="0"/>
          </a:sp3d>
        </c:spPr>
        <c:marker>
          <c:symbol val="circle"/>
          <c:size val="6"/>
          <c:spPr>
            <a:gradFill rotWithShape="1">
              <a:gsLst>
                <a:gs pos="0">
                  <a:schemeClr val="accent4">
                    <a:lumMod val="60000"/>
                    <a:lumOff val="40000"/>
                    <a:satMod val="103000"/>
                    <a:lumMod val="102000"/>
                    <a:tint val="94000"/>
                  </a:schemeClr>
                </a:gs>
                <a:gs pos="50000">
                  <a:schemeClr val="accent4">
                    <a:lumMod val="60000"/>
                    <a:lumOff val="40000"/>
                    <a:satMod val="110000"/>
                    <a:lumMod val="100000"/>
                    <a:shade val="100000"/>
                  </a:schemeClr>
                </a:gs>
                <a:gs pos="100000">
                  <a:schemeClr val="accent4">
                    <a:lumMod val="60000"/>
                    <a:lumOff val="40000"/>
                    <a:lumMod val="99000"/>
                    <a:satMod val="120000"/>
                    <a:shade val="78000"/>
                  </a:schemeClr>
                </a:gs>
              </a:gsLst>
              <a:lin ang="5400000" scaled="0"/>
            </a:gradFill>
            <a:ln w="9525">
              <a:solidFill>
                <a:schemeClr val="accent4">
                  <a:lumMod val="60000"/>
                  <a:lumOff val="4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5">
                    <a:lumMod val="60000"/>
                    <a:lumOff val="40000"/>
                    <a:satMod val="103000"/>
                    <a:lumMod val="102000"/>
                    <a:tint val="94000"/>
                  </a:schemeClr>
                </a:gs>
                <a:gs pos="50000">
                  <a:schemeClr val="accent5">
                    <a:lumMod val="60000"/>
                    <a:lumOff val="40000"/>
                    <a:satMod val="110000"/>
                    <a:lumMod val="100000"/>
                    <a:shade val="100000"/>
                  </a:schemeClr>
                </a:gs>
                <a:gs pos="100000">
                  <a:schemeClr val="accent5">
                    <a:lumMod val="60000"/>
                    <a:lumOff val="40000"/>
                    <a:lumMod val="99000"/>
                    <a:satMod val="120000"/>
                    <a:shade val="78000"/>
                  </a:schemeClr>
                </a:gs>
              </a:gsLst>
              <a:lin ang="5400000" scaled="0"/>
            </a:gradFill>
            <a:ln w="9525">
              <a:solidFill>
                <a:schemeClr val="accent5">
                  <a:lumMod val="60000"/>
                  <a:lumOff val="4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6">
                    <a:lumMod val="60000"/>
                    <a:lumOff val="40000"/>
                    <a:satMod val="103000"/>
                    <a:lumMod val="102000"/>
                    <a:tint val="94000"/>
                  </a:schemeClr>
                </a:gs>
                <a:gs pos="50000">
                  <a:schemeClr val="accent6">
                    <a:lumMod val="60000"/>
                    <a:lumOff val="40000"/>
                    <a:satMod val="110000"/>
                    <a:lumMod val="100000"/>
                    <a:shade val="100000"/>
                  </a:schemeClr>
                </a:gs>
                <a:gs pos="100000">
                  <a:schemeClr val="accent6">
                    <a:lumMod val="60000"/>
                    <a:lumOff val="40000"/>
                    <a:lumMod val="99000"/>
                    <a:satMod val="120000"/>
                    <a:shade val="78000"/>
                  </a:schemeClr>
                </a:gs>
              </a:gsLst>
              <a:lin ang="5400000" scaled="0"/>
            </a:gradFill>
            <a:ln w="9525">
              <a:solidFill>
                <a:schemeClr val="accent6">
                  <a:lumMod val="60000"/>
                  <a:lumOff val="4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lumMod val="50000"/>
                    <a:satMod val="103000"/>
                    <a:lumMod val="102000"/>
                    <a:tint val="94000"/>
                  </a:schemeClr>
                </a:gs>
                <a:gs pos="50000">
                  <a:schemeClr val="accent1">
                    <a:lumMod val="50000"/>
                    <a:satMod val="110000"/>
                    <a:lumMod val="100000"/>
                    <a:shade val="100000"/>
                  </a:schemeClr>
                </a:gs>
                <a:gs pos="100000">
                  <a:schemeClr val="accent1">
                    <a:lumMod val="50000"/>
                    <a:lumMod val="99000"/>
                    <a:satMod val="120000"/>
                    <a:shade val="78000"/>
                  </a:schemeClr>
                </a:gs>
              </a:gsLst>
              <a:lin ang="5400000" scaled="0"/>
            </a:gradFill>
            <a:ln w="9525">
              <a:solidFill>
                <a:schemeClr val="accent1">
                  <a:lumMod val="5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lumMod val="50000"/>
                    <a:satMod val="103000"/>
                    <a:lumMod val="102000"/>
                    <a:tint val="94000"/>
                  </a:schemeClr>
                </a:gs>
                <a:gs pos="50000">
                  <a:schemeClr val="accent2">
                    <a:lumMod val="50000"/>
                    <a:satMod val="110000"/>
                    <a:lumMod val="100000"/>
                    <a:shade val="100000"/>
                  </a:schemeClr>
                </a:gs>
                <a:gs pos="100000">
                  <a:schemeClr val="accent2">
                    <a:lumMod val="50000"/>
                    <a:lumMod val="99000"/>
                    <a:satMod val="120000"/>
                    <a:shade val="78000"/>
                  </a:schemeClr>
                </a:gs>
              </a:gsLst>
              <a:lin ang="5400000" scaled="0"/>
            </a:gradFill>
            <a:ln w="9525">
              <a:solidFill>
                <a:schemeClr val="accent2">
                  <a:lumMod val="5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3">
                    <a:lumMod val="50000"/>
                    <a:satMod val="103000"/>
                    <a:lumMod val="102000"/>
                    <a:tint val="94000"/>
                  </a:schemeClr>
                </a:gs>
                <a:gs pos="50000">
                  <a:schemeClr val="accent3">
                    <a:lumMod val="50000"/>
                    <a:satMod val="110000"/>
                    <a:lumMod val="100000"/>
                    <a:shade val="100000"/>
                  </a:schemeClr>
                </a:gs>
                <a:gs pos="100000">
                  <a:schemeClr val="accent3">
                    <a:lumMod val="50000"/>
                    <a:lumMod val="99000"/>
                    <a:satMod val="120000"/>
                    <a:shade val="78000"/>
                  </a:schemeClr>
                </a:gs>
              </a:gsLst>
              <a:lin ang="5400000" scaled="0"/>
            </a:gradFill>
            <a:ln w="9525">
              <a:solidFill>
                <a:schemeClr val="accent3">
                  <a:lumMod val="5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4">
                    <a:lumMod val="50000"/>
                    <a:satMod val="103000"/>
                    <a:lumMod val="102000"/>
                    <a:tint val="94000"/>
                  </a:schemeClr>
                </a:gs>
                <a:gs pos="50000">
                  <a:schemeClr val="accent4">
                    <a:lumMod val="50000"/>
                    <a:satMod val="110000"/>
                    <a:lumMod val="100000"/>
                    <a:shade val="100000"/>
                  </a:schemeClr>
                </a:gs>
                <a:gs pos="100000">
                  <a:schemeClr val="accent4">
                    <a:lumMod val="50000"/>
                    <a:lumMod val="99000"/>
                    <a:satMod val="120000"/>
                    <a:shade val="78000"/>
                  </a:schemeClr>
                </a:gs>
              </a:gsLst>
              <a:lin ang="5400000" scaled="0"/>
            </a:gradFill>
            <a:ln w="9525">
              <a:solidFill>
                <a:schemeClr val="accent4">
                  <a:lumMod val="5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5">
                    <a:lumMod val="50000"/>
                    <a:satMod val="103000"/>
                    <a:lumMod val="102000"/>
                    <a:tint val="94000"/>
                  </a:schemeClr>
                </a:gs>
                <a:gs pos="50000">
                  <a:schemeClr val="accent5">
                    <a:lumMod val="50000"/>
                    <a:satMod val="110000"/>
                    <a:lumMod val="100000"/>
                    <a:shade val="100000"/>
                  </a:schemeClr>
                </a:gs>
                <a:gs pos="100000">
                  <a:schemeClr val="accent5">
                    <a:lumMod val="50000"/>
                    <a:lumMod val="99000"/>
                    <a:satMod val="120000"/>
                    <a:shade val="78000"/>
                  </a:schemeClr>
                </a:gs>
              </a:gsLst>
              <a:lin ang="5400000" scaled="0"/>
            </a:gradFill>
            <a:ln w="9525">
              <a:solidFill>
                <a:schemeClr val="accent5">
                  <a:lumMod val="5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6">
                    <a:lumMod val="50000"/>
                    <a:satMod val="103000"/>
                    <a:lumMod val="102000"/>
                    <a:tint val="94000"/>
                  </a:schemeClr>
                </a:gs>
                <a:gs pos="50000">
                  <a:schemeClr val="accent6">
                    <a:lumMod val="50000"/>
                    <a:satMod val="110000"/>
                    <a:lumMod val="100000"/>
                    <a:shade val="100000"/>
                  </a:schemeClr>
                </a:gs>
                <a:gs pos="100000">
                  <a:schemeClr val="accent6">
                    <a:lumMod val="50000"/>
                    <a:lumMod val="99000"/>
                    <a:satMod val="120000"/>
                    <a:shade val="78000"/>
                  </a:schemeClr>
                </a:gs>
              </a:gsLst>
              <a:lin ang="5400000" scaled="0"/>
            </a:gradFill>
            <a:ln w="9525">
              <a:solidFill>
                <a:schemeClr val="accent6">
                  <a:lumMod val="5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lumMod val="70000"/>
                    <a:lumOff val="30000"/>
                    <a:satMod val="103000"/>
                    <a:lumMod val="102000"/>
                    <a:tint val="94000"/>
                  </a:schemeClr>
                </a:gs>
                <a:gs pos="50000">
                  <a:schemeClr val="accent1">
                    <a:lumMod val="70000"/>
                    <a:lumOff val="30000"/>
                    <a:satMod val="110000"/>
                    <a:lumMod val="100000"/>
                    <a:shade val="100000"/>
                  </a:schemeClr>
                </a:gs>
                <a:gs pos="100000">
                  <a:schemeClr val="accent1">
                    <a:lumMod val="70000"/>
                    <a:lumOff val="30000"/>
                    <a:lumMod val="99000"/>
                    <a:satMod val="120000"/>
                    <a:shade val="78000"/>
                  </a:schemeClr>
                </a:gs>
              </a:gsLst>
              <a:lin ang="5400000" scaled="0"/>
            </a:gradFill>
            <a:ln w="9525">
              <a:solidFill>
                <a:schemeClr val="accent1">
                  <a:lumMod val="70000"/>
                  <a:lumOff val="3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lumMod val="70000"/>
                    <a:lumOff val="30000"/>
                    <a:satMod val="103000"/>
                    <a:lumMod val="102000"/>
                    <a:tint val="94000"/>
                  </a:schemeClr>
                </a:gs>
                <a:gs pos="50000">
                  <a:schemeClr val="accent2">
                    <a:lumMod val="70000"/>
                    <a:lumOff val="30000"/>
                    <a:satMod val="110000"/>
                    <a:lumMod val="100000"/>
                    <a:shade val="100000"/>
                  </a:schemeClr>
                </a:gs>
                <a:gs pos="100000">
                  <a:schemeClr val="accent2">
                    <a:lumMod val="70000"/>
                    <a:lumOff val="30000"/>
                    <a:lumMod val="99000"/>
                    <a:satMod val="120000"/>
                    <a:shade val="78000"/>
                  </a:schemeClr>
                </a:gs>
              </a:gsLst>
              <a:lin ang="5400000" scaled="0"/>
            </a:gradFill>
            <a:ln w="9525">
              <a:solidFill>
                <a:schemeClr val="accent2">
                  <a:lumMod val="70000"/>
                  <a:lumOff val="3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3">
                    <a:lumMod val="70000"/>
                    <a:lumOff val="30000"/>
                    <a:satMod val="103000"/>
                    <a:lumMod val="102000"/>
                    <a:tint val="94000"/>
                  </a:schemeClr>
                </a:gs>
                <a:gs pos="50000">
                  <a:schemeClr val="accent3">
                    <a:lumMod val="70000"/>
                    <a:lumOff val="30000"/>
                    <a:satMod val="110000"/>
                    <a:lumMod val="100000"/>
                    <a:shade val="100000"/>
                  </a:schemeClr>
                </a:gs>
                <a:gs pos="100000">
                  <a:schemeClr val="accent3">
                    <a:lumMod val="70000"/>
                    <a:lumOff val="30000"/>
                    <a:lumMod val="99000"/>
                    <a:satMod val="120000"/>
                    <a:shade val="78000"/>
                  </a:schemeClr>
                </a:gs>
              </a:gsLst>
              <a:lin ang="5400000" scaled="0"/>
            </a:gradFill>
            <a:ln w="9525">
              <a:solidFill>
                <a:schemeClr val="accent3">
                  <a:lumMod val="70000"/>
                  <a:lumOff val="3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4">
                    <a:lumMod val="70000"/>
                    <a:lumOff val="30000"/>
                    <a:satMod val="103000"/>
                    <a:lumMod val="102000"/>
                    <a:tint val="94000"/>
                  </a:schemeClr>
                </a:gs>
                <a:gs pos="50000">
                  <a:schemeClr val="accent4">
                    <a:lumMod val="70000"/>
                    <a:lumOff val="30000"/>
                    <a:satMod val="110000"/>
                    <a:lumMod val="100000"/>
                    <a:shade val="100000"/>
                  </a:schemeClr>
                </a:gs>
                <a:gs pos="100000">
                  <a:schemeClr val="accent4">
                    <a:lumMod val="70000"/>
                    <a:lumOff val="30000"/>
                    <a:lumMod val="99000"/>
                    <a:satMod val="120000"/>
                    <a:shade val="78000"/>
                  </a:schemeClr>
                </a:gs>
              </a:gsLst>
              <a:lin ang="5400000" scaled="0"/>
            </a:gradFill>
            <a:ln w="9525">
              <a:solidFill>
                <a:schemeClr val="accent4">
                  <a:lumMod val="70000"/>
                  <a:lumOff val="3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5">
                    <a:lumMod val="70000"/>
                    <a:lumOff val="30000"/>
                    <a:satMod val="103000"/>
                    <a:lumMod val="102000"/>
                    <a:tint val="94000"/>
                  </a:schemeClr>
                </a:gs>
                <a:gs pos="50000">
                  <a:schemeClr val="accent5">
                    <a:lumMod val="70000"/>
                    <a:lumOff val="30000"/>
                    <a:satMod val="110000"/>
                    <a:lumMod val="100000"/>
                    <a:shade val="100000"/>
                  </a:schemeClr>
                </a:gs>
                <a:gs pos="100000">
                  <a:schemeClr val="accent5">
                    <a:lumMod val="70000"/>
                    <a:lumOff val="30000"/>
                    <a:lumMod val="99000"/>
                    <a:satMod val="120000"/>
                    <a:shade val="78000"/>
                  </a:schemeClr>
                </a:gs>
              </a:gsLst>
              <a:lin ang="5400000" scaled="0"/>
            </a:gradFill>
            <a:ln w="9525">
              <a:solidFill>
                <a:schemeClr val="accent5">
                  <a:lumMod val="70000"/>
                  <a:lumOff val="3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6">
                    <a:lumMod val="70000"/>
                    <a:lumOff val="30000"/>
                    <a:satMod val="103000"/>
                    <a:lumMod val="102000"/>
                    <a:tint val="94000"/>
                  </a:schemeClr>
                </a:gs>
                <a:gs pos="50000">
                  <a:schemeClr val="accent6">
                    <a:lumMod val="70000"/>
                    <a:lumOff val="30000"/>
                    <a:satMod val="110000"/>
                    <a:lumMod val="100000"/>
                    <a:shade val="100000"/>
                  </a:schemeClr>
                </a:gs>
                <a:gs pos="100000">
                  <a:schemeClr val="accent6">
                    <a:lumMod val="70000"/>
                    <a:lumOff val="30000"/>
                    <a:lumMod val="99000"/>
                    <a:satMod val="120000"/>
                    <a:shade val="78000"/>
                  </a:schemeClr>
                </a:gs>
              </a:gsLst>
              <a:lin ang="5400000" scaled="0"/>
            </a:gradFill>
            <a:ln w="9525">
              <a:solidFill>
                <a:schemeClr val="accent6">
                  <a:lumMod val="70000"/>
                  <a:lumOff val="3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lumMod val="70000"/>
                    <a:satMod val="103000"/>
                    <a:lumMod val="102000"/>
                    <a:tint val="94000"/>
                  </a:schemeClr>
                </a:gs>
                <a:gs pos="50000">
                  <a:schemeClr val="accent1">
                    <a:lumMod val="70000"/>
                    <a:satMod val="110000"/>
                    <a:lumMod val="100000"/>
                    <a:shade val="100000"/>
                  </a:schemeClr>
                </a:gs>
                <a:gs pos="100000">
                  <a:schemeClr val="accent1">
                    <a:lumMod val="70000"/>
                    <a:lumMod val="99000"/>
                    <a:satMod val="120000"/>
                    <a:shade val="78000"/>
                  </a:schemeClr>
                </a:gs>
              </a:gsLst>
              <a:lin ang="5400000" scaled="0"/>
            </a:gradFill>
            <a:ln w="9525">
              <a:solidFill>
                <a:schemeClr val="accent1">
                  <a:lumMod val="7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lumMod val="70000"/>
                    <a:satMod val="103000"/>
                    <a:lumMod val="102000"/>
                    <a:tint val="94000"/>
                  </a:schemeClr>
                </a:gs>
                <a:gs pos="50000">
                  <a:schemeClr val="accent2">
                    <a:lumMod val="70000"/>
                    <a:satMod val="110000"/>
                    <a:lumMod val="100000"/>
                    <a:shade val="100000"/>
                  </a:schemeClr>
                </a:gs>
                <a:gs pos="100000">
                  <a:schemeClr val="accent2">
                    <a:lumMod val="70000"/>
                    <a:lumMod val="99000"/>
                    <a:satMod val="120000"/>
                    <a:shade val="78000"/>
                  </a:schemeClr>
                </a:gs>
              </a:gsLst>
              <a:lin ang="5400000" scaled="0"/>
            </a:gradFill>
            <a:ln w="9525">
              <a:solidFill>
                <a:schemeClr val="accent2">
                  <a:lumMod val="7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3">
                    <a:lumMod val="70000"/>
                    <a:satMod val="103000"/>
                    <a:lumMod val="102000"/>
                    <a:tint val="94000"/>
                  </a:schemeClr>
                </a:gs>
                <a:gs pos="50000">
                  <a:schemeClr val="accent3">
                    <a:lumMod val="70000"/>
                    <a:satMod val="110000"/>
                    <a:lumMod val="100000"/>
                    <a:shade val="100000"/>
                  </a:schemeClr>
                </a:gs>
                <a:gs pos="100000">
                  <a:schemeClr val="accent3">
                    <a:lumMod val="70000"/>
                    <a:lumMod val="99000"/>
                    <a:satMod val="120000"/>
                    <a:shade val="78000"/>
                  </a:schemeClr>
                </a:gs>
              </a:gsLst>
              <a:lin ang="5400000" scaled="0"/>
            </a:gradFill>
            <a:ln w="9525">
              <a:solidFill>
                <a:schemeClr val="accent3">
                  <a:lumMod val="7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4">
                    <a:lumMod val="70000"/>
                    <a:satMod val="103000"/>
                    <a:lumMod val="102000"/>
                    <a:tint val="94000"/>
                  </a:schemeClr>
                </a:gs>
                <a:gs pos="50000">
                  <a:schemeClr val="accent4">
                    <a:lumMod val="70000"/>
                    <a:satMod val="110000"/>
                    <a:lumMod val="100000"/>
                    <a:shade val="100000"/>
                  </a:schemeClr>
                </a:gs>
                <a:gs pos="100000">
                  <a:schemeClr val="accent4">
                    <a:lumMod val="70000"/>
                    <a:lumMod val="99000"/>
                    <a:satMod val="120000"/>
                    <a:shade val="78000"/>
                  </a:schemeClr>
                </a:gs>
              </a:gsLst>
              <a:lin ang="5400000" scaled="0"/>
            </a:gradFill>
            <a:ln w="9525">
              <a:solidFill>
                <a:schemeClr val="accent4">
                  <a:lumMod val="7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5">
                    <a:lumMod val="70000"/>
                    <a:satMod val="103000"/>
                    <a:lumMod val="102000"/>
                    <a:tint val="94000"/>
                  </a:schemeClr>
                </a:gs>
                <a:gs pos="50000">
                  <a:schemeClr val="accent5">
                    <a:lumMod val="70000"/>
                    <a:satMod val="110000"/>
                    <a:lumMod val="100000"/>
                    <a:shade val="100000"/>
                  </a:schemeClr>
                </a:gs>
                <a:gs pos="100000">
                  <a:schemeClr val="accent5">
                    <a:lumMod val="70000"/>
                    <a:lumMod val="99000"/>
                    <a:satMod val="120000"/>
                    <a:shade val="78000"/>
                  </a:schemeClr>
                </a:gs>
              </a:gsLst>
              <a:lin ang="5400000" scaled="0"/>
            </a:gradFill>
            <a:ln w="9525">
              <a:solidFill>
                <a:schemeClr val="accent5">
                  <a:lumMod val="7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6">
                    <a:lumMod val="70000"/>
                    <a:satMod val="103000"/>
                    <a:lumMod val="102000"/>
                    <a:tint val="94000"/>
                  </a:schemeClr>
                </a:gs>
                <a:gs pos="50000">
                  <a:schemeClr val="accent6">
                    <a:lumMod val="70000"/>
                    <a:satMod val="110000"/>
                    <a:lumMod val="100000"/>
                    <a:shade val="100000"/>
                  </a:schemeClr>
                </a:gs>
                <a:gs pos="100000">
                  <a:schemeClr val="accent6">
                    <a:lumMod val="70000"/>
                    <a:lumMod val="99000"/>
                    <a:satMod val="120000"/>
                    <a:shade val="78000"/>
                  </a:schemeClr>
                </a:gs>
              </a:gsLst>
              <a:lin ang="5400000" scaled="0"/>
            </a:gradFill>
            <a:ln w="9525">
              <a:solidFill>
                <a:schemeClr val="accent6">
                  <a:lumMod val="7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lumMod val="50000"/>
                    <a:lumOff val="50000"/>
                    <a:satMod val="103000"/>
                    <a:lumMod val="102000"/>
                    <a:tint val="94000"/>
                  </a:schemeClr>
                </a:gs>
                <a:gs pos="50000">
                  <a:schemeClr val="accent1">
                    <a:lumMod val="50000"/>
                    <a:lumOff val="50000"/>
                    <a:satMod val="110000"/>
                    <a:lumMod val="100000"/>
                    <a:shade val="100000"/>
                  </a:schemeClr>
                </a:gs>
                <a:gs pos="100000">
                  <a:schemeClr val="accent1">
                    <a:lumMod val="50000"/>
                    <a:lumOff val="50000"/>
                    <a:lumMod val="99000"/>
                    <a:satMod val="120000"/>
                    <a:shade val="78000"/>
                  </a:schemeClr>
                </a:gs>
              </a:gsLst>
              <a:lin ang="5400000" scaled="0"/>
            </a:gradFill>
            <a:ln w="9525">
              <a:solidFill>
                <a:schemeClr val="accent1">
                  <a:lumMod val="50000"/>
                  <a:lumOff val="5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lumMod val="50000"/>
                    <a:lumOff val="50000"/>
                    <a:satMod val="103000"/>
                    <a:lumMod val="102000"/>
                    <a:tint val="94000"/>
                  </a:schemeClr>
                </a:gs>
                <a:gs pos="50000">
                  <a:schemeClr val="accent2">
                    <a:lumMod val="50000"/>
                    <a:lumOff val="50000"/>
                    <a:satMod val="110000"/>
                    <a:lumMod val="100000"/>
                    <a:shade val="100000"/>
                  </a:schemeClr>
                </a:gs>
                <a:gs pos="100000">
                  <a:schemeClr val="accent2">
                    <a:lumMod val="50000"/>
                    <a:lumOff val="50000"/>
                    <a:lumMod val="99000"/>
                    <a:satMod val="120000"/>
                    <a:shade val="78000"/>
                  </a:schemeClr>
                </a:gs>
              </a:gsLst>
              <a:lin ang="5400000" scaled="0"/>
            </a:gradFill>
            <a:ln w="9525">
              <a:solidFill>
                <a:schemeClr val="accent2">
                  <a:lumMod val="50000"/>
                  <a:lumOff val="5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3">
                    <a:lumMod val="50000"/>
                    <a:lumOff val="50000"/>
                    <a:satMod val="103000"/>
                    <a:lumMod val="102000"/>
                    <a:tint val="94000"/>
                  </a:schemeClr>
                </a:gs>
                <a:gs pos="50000">
                  <a:schemeClr val="accent3">
                    <a:lumMod val="50000"/>
                    <a:lumOff val="50000"/>
                    <a:satMod val="110000"/>
                    <a:lumMod val="100000"/>
                    <a:shade val="100000"/>
                  </a:schemeClr>
                </a:gs>
                <a:gs pos="100000">
                  <a:schemeClr val="accent3">
                    <a:lumMod val="50000"/>
                    <a:lumOff val="50000"/>
                    <a:lumMod val="99000"/>
                    <a:satMod val="120000"/>
                    <a:shade val="78000"/>
                  </a:schemeClr>
                </a:gs>
              </a:gsLst>
              <a:lin ang="5400000" scaled="0"/>
            </a:gradFill>
            <a:ln w="9525">
              <a:solidFill>
                <a:schemeClr val="accent3">
                  <a:lumMod val="50000"/>
                  <a:lumOff val="5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4">
                    <a:lumMod val="50000"/>
                    <a:lumOff val="50000"/>
                    <a:satMod val="103000"/>
                    <a:lumMod val="102000"/>
                    <a:tint val="94000"/>
                  </a:schemeClr>
                </a:gs>
                <a:gs pos="50000">
                  <a:schemeClr val="accent4">
                    <a:lumMod val="50000"/>
                    <a:lumOff val="50000"/>
                    <a:satMod val="110000"/>
                    <a:lumMod val="100000"/>
                    <a:shade val="100000"/>
                  </a:schemeClr>
                </a:gs>
                <a:gs pos="100000">
                  <a:schemeClr val="accent4">
                    <a:lumMod val="50000"/>
                    <a:lumOff val="50000"/>
                    <a:lumMod val="99000"/>
                    <a:satMod val="120000"/>
                    <a:shade val="78000"/>
                  </a:schemeClr>
                </a:gs>
              </a:gsLst>
              <a:lin ang="5400000" scaled="0"/>
            </a:gradFill>
            <a:ln w="9525">
              <a:solidFill>
                <a:schemeClr val="accent4">
                  <a:lumMod val="50000"/>
                  <a:lumOff val="5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9"/>
        <c:spPr>
          <a:solidFill>
            <a:schemeClr val="lt1"/>
          </a:solidFill>
          <a:ln w="12700" cap="flat" cmpd="sng" algn="ctr">
            <a:solidFill>
              <a:schemeClr val="accent2"/>
            </a:solidFill>
            <a:prstDash val="solid"/>
            <a:miter lim="800000"/>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1"/>
        <c:spPr>
          <a:solidFill>
            <a:schemeClr val="lt1"/>
          </a:solidFill>
          <a:ln w="12700" cap="flat" cmpd="sng" algn="ctr">
            <a:solidFill>
              <a:schemeClr val="accent2"/>
            </a:solidFill>
            <a:prstDash val="solid"/>
            <a:miter lim="800000"/>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280376881688939"/>
          <c:y val="0.18198855351414409"/>
          <c:w val="0.58709615336340126"/>
          <c:h val="0.61447980460775742"/>
        </c:manualLayout>
      </c:layout>
      <c:barChart>
        <c:barDir val="col"/>
        <c:grouping val="clustered"/>
        <c:varyColors val="0"/>
        <c:ser>
          <c:idx val="0"/>
          <c:order val="0"/>
          <c:tx>
            <c:strRef>
              <c:f>'Order level Analysis'!$B$5:$B$6</c:f>
              <c:strCache>
                <c:ptCount val="1"/>
                <c:pt idx="0">
                  <c:v>Akshaya Nagar</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Analysis'!$B$7:$B$12</c:f>
              <c:numCache>
                <c:formatCode>General</c:formatCode>
                <c:ptCount val="5"/>
                <c:pt idx="0">
                  <c:v>3</c:v>
                </c:pt>
                <c:pt idx="1">
                  <c:v>4</c:v>
                </c:pt>
                <c:pt idx="2">
                  <c:v>4</c:v>
                </c:pt>
                <c:pt idx="3">
                  <c:v>6</c:v>
                </c:pt>
                <c:pt idx="4">
                  <c:v>4</c:v>
                </c:pt>
              </c:numCache>
            </c:numRef>
          </c:val>
          <c:extLst>
            <c:ext xmlns:c16="http://schemas.microsoft.com/office/drawing/2014/chart" uri="{C3380CC4-5D6E-409C-BE32-E72D297353CC}">
              <c16:uniqueId val="{00000000-258E-456C-AFAB-258CFD6A3924}"/>
            </c:ext>
          </c:extLst>
        </c:ser>
        <c:ser>
          <c:idx val="1"/>
          <c:order val="1"/>
          <c:tx>
            <c:strRef>
              <c:f>'Order level Analysis'!$C$5:$C$6</c:f>
              <c:strCache>
                <c:ptCount val="1"/>
                <c:pt idx="0">
                  <c:v>Arekere</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Analysis'!$C$7:$C$12</c:f>
              <c:numCache>
                <c:formatCode>General</c:formatCode>
                <c:ptCount val="5"/>
                <c:pt idx="0">
                  <c:v>1</c:v>
                </c:pt>
                <c:pt idx="1">
                  <c:v>1</c:v>
                </c:pt>
                <c:pt idx="2">
                  <c:v>2</c:v>
                </c:pt>
                <c:pt idx="4">
                  <c:v>2</c:v>
                </c:pt>
              </c:numCache>
            </c:numRef>
          </c:val>
          <c:extLst>
            <c:ext xmlns:c16="http://schemas.microsoft.com/office/drawing/2014/chart" uri="{C3380CC4-5D6E-409C-BE32-E72D297353CC}">
              <c16:uniqueId val="{00000001-258E-456C-AFAB-258CFD6A3924}"/>
            </c:ext>
          </c:extLst>
        </c:ser>
        <c:ser>
          <c:idx val="2"/>
          <c:order val="2"/>
          <c:tx>
            <c:strRef>
              <c:f>'Order level Analysis'!$D$5:$D$6</c:f>
              <c:strCache>
                <c:ptCount val="1"/>
                <c:pt idx="0">
                  <c:v>Banashankari Stage 2</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Analysis'!$D$7:$D$12</c:f>
              <c:numCache>
                <c:formatCode>General</c:formatCode>
                <c:ptCount val="5"/>
                <c:pt idx="1">
                  <c:v>1</c:v>
                </c:pt>
                <c:pt idx="4">
                  <c:v>1</c:v>
                </c:pt>
              </c:numCache>
            </c:numRef>
          </c:val>
          <c:extLst>
            <c:ext xmlns:c16="http://schemas.microsoft.com/office/drawing/2014/chart" uri="{C3380CC4-5D6E-409C-BE32-E72D297353CC}">
              <c16:uniqueId val="{00000002-258E-456C-AFAB-258CFD6A3924}"/>
            </c:ext>
          </c:extLst>
        </c:ser>
        <c:ser>
          <c:idx val="3"/>
          <c:order val="3"/>
          <c:tx>
            <c:strRef>
              <c:f>'Order level Analysis'!$E$5:$E$6</c:f>
              <c:strCache>
                <c:ptCount val="1"/>
                <c:pt idx="0">
                  <c:v>Bannerghatta</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Analysis'!$E$7:$E$12</c:f>
              <c:numCache>
                <c:formatCode>General</c:formatCode>
                <c:ptCount val="5"/>
                <c:pt idx="1">
                  <c:v>2</c:v>
                </c:pt>
                <c:pt idx="3">
                  <c:v>1</c:v>
                </c:pt>
                <c:pt idx="4">
                  <c:v>2</c:v>
                </c:pt>
              </c:numCache>
            </c:numRef>
          </c:val>
          <c:extLst>
            <c:ext xmlns:c16="http://schemas.microsoft.com/office/drawing/2014/chart" uri="{C3380CC4-5D6E-409C-BE32-E72D297353CC}">
              <c16:uniqueId val="{00000003-258E-456C-AFAB-258CFD6A3924}"/>
            </c:ext>
          </c:extLst>
        </c:ser>
        <c:ser>
          <c:idx val="4"/>
          <c:order val="4"/>
          <c:tx>
            <c:strRef>
              <c:f>'Order level Analysis'!$F$5:$F$6</c:f>
              <c:strCache>
                <c:ptCount val="1"/>
                <c:pt idx="0">
                  <c:v>Basavanagudi</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Analysis'!$F$7:$F$12</c:f>
              <c:numCache>
                <c:formatCode>General</c:formatCode>
                <c:ptCount val="5"/>
                <c:pt idx="1">
                  <c:v>2</c:v>
                </c:pt>
                <c:pt idx="4">
                  <c:v>1</c:v>
                </c:pt>
              </c:numCache>
            </c:numRef>
          </c:val>
          <c:extLst>
            <c:ext xmlns:c16="http://schemas.microsoft.com/office/drawing/2014/chart" uri="{C3380CC4-5D6E-409C-BE32-E72D297353CC}">
              <c16:uniqueId val="{00000004-258E-456C-AFAB-258CFD6A3924}"/>
            </c:ext>
          </c:extLst>
        </c:ser>
        <c:ser>
          <c:idx val="5"/>
          <c:order val="5"/>
          <c:tx>
            <c:strRef>
              <c:f>'Order level Analysis'!$G$5:$G$6</c:f>
              <c:strCache>
                <c:ptCount val="1"/>
                <c:pt idx="0">
                  <c:v>Bellandur - Off Sarjapur Road</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Analysis'!$G$7:$G$12</c:f>
              <c:numCache>
                <c:formatCode>General</c:formatCode>
                <c:ptCount val="5"/>
                <c:pt idx="0">
                  <c:v>9</c:v>
                </c:pt>
                <c:pt idx="1">
                  <c:v>11</c:v>
                </c:pt>
                <c:pt idx="2">
                  <c:v>2</c:v>
                </c:pt>
                <c:pt idx="3">
                  <c:v>7</c:v>
                </c:pt>
                <c:pt idx="4">
                  <c:v>15</c:v>
                </c:pt>
              </c:numCache>
            </c:numRef>
          </c:val>
          <c:extLst>
            <c:ext xmlns:c16="http://schemas.microsoft.com/office/drawing/2014/chart" uri="{C3380CC4-5D6E-409C-BE32-E72D297353CC}">
              <c16:uniqueId val="{00000005-258E-456C-AFAB-258CFD6A3924}"/>
            </c:ext>
          </c:extLst>
        </c:ser>
        <c:ser>
          <c:idx val="6"/>
          <c:order val="6"/>
          <c:tx>
            <c:strRef>
              <c:f>'Order level Analysis'!$H$5:$H$6</c:f>
              <c:strCache>
                <c:ptCount val="1"/>
                <c:pt idx="0">
                  <c:v>Bellandur, APR</c:v>
                </c:pt>
              </c:strCache>
            </c:strRef>
          </c:tx>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Analysis'!$H$7:$H$12</c:f>
              <c:numCache>
                <c:formatCode>General</c:formatCode>
                <c:ptCount val="5"/>
                <c:pt idx="0">
                  <c:v>8</c:v>
                </c:pt>
                <c:pt idx="1">
                  <c:v>14</c:v>
                </c:pt>
                <c:pt idx="3">
                  <c:v>6</c:v>
                </c:pt>
                <c:pt idx="4">
                  <c:v>1</c:v>
                </c:pt>
              </c:numCache>
            </c:numRef>
          </c:val>
          <c:extLst>
            <c:ext xmlns:c16="http://schemas.microsoft.com/office/drawing/2014/chart" uri="{C3380CC4-5D6E-409C-BE32-E72D297353CC}">
              <c16:uniqueId val="{00000006-258E-456C-AFAB-258CFD6A3924}"/>
            </c:ext>
          </c:extLst>
        </c:ser>
        <c:ser>
          <c:idx val="7"/>
          <c:order val="7"/>
          <c:tx>
            <c:strRef>
              <c:f>'Order level Analysis'!$I$5:$I$6</c:f>
              <c:strCache>
                <c:ptCount val="1"/>
                <c:pt idx="0">
                  <c:v>Bellandur, Ecospace</c:v>
                </c:pt>
              </c:strCache>
            </c:strRef>
          </c:tx>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Analysis'!$I$7:$I$12</c:f>
              <c:numCache>
                <c:formatCode>General</c:formatCode>
                <c:ptCount val="5"/>
                <c:pt idx="2">
                  <c:v>1</c:v>
                </c:pt>
              </c:numCache>
            </c:numRef>
          </c:val>
          <c:extLst>
            <c:ext xmlns:c16="http://schemas.microsoft.com/office/drawing/2014/chart" uri="{C3380CC4-5D6E-409C-BE32-E72D297353CC}">
              <c16:uniqueId val="{00000007-258E-456C-AFAB-258CFD6A3924}"/>
            </c:ext>
          </c:extLst>
        </c:ser>
        <c:ser>
          <c:idx val="8"/>
          <c:order val="8"/>
          <c:tx>
            <c:strRef>
              <c:f>'Order level Analysis'!$J$5:$J$6</c:f>
              <c:strCache>
                <c:ptCount val="1"/>
                <c:pt idx="0">
                  <c:v>Bellandur, ETV</c:v>
                </c:pt>
              </c:strCache>
            </c:strRef>
          </c:tx>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Analysis'!$J$7:$J$12</c:f>
              <c:numCache>
                <c:formatCode>General</c:formatCode>
                <c:ptCount val="5"/>
                <c:pt idx="3">
                  <c:v>1</c:v>
                </c:pt>
                <c:pt idx="4">
                  <c:v>1</c:v>
                </c:pt>
              </c:numCache>
            </c:numRef>
          </c:val>
          <c:extLst>
            <c:ext xmlns:c16="http://schemas.microsoft.com/office/drawing/2014/chart" uri="{C3380CC4-5D6E-409C-BE32-E72D297353CC}">
              <c16:uniqueId val="{00000008-258E-456C-AFAB-258CFD6A3924}"/>
            </c:ext>
          </c:extLst>
        </c:ser>
        <c:ser>
          <c:idx val="9"/>
          <c:order val="9"/>
          <c:tx>
            <c:strRef>
              <c:f>'Order level Analysis'!$K$5:$K$6</c:f>
              <c:strCache>
                <c:ptCount val="1"/>
                <c:pt idx="0">
                  <c:v>Bellandur, Green Glen</c:v>
                </c:pt>
              </c:strCache>
            </c:strRef>
          </c:tx>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Analysis'!$K$7:$K$12</c:f>
              <c:numCache>
                <c:formatCode>General</c:formatCode>
                <c:ptCount val="5"/>
                <c:pt idx="0">
                  <c:v>32</c:v>
                </c:pt>
                <c:pt idx="1">
                  <c:v>27</c:v>
                </c:pt>
                <c:pt idx="2">
                  <c:v>12</c:v>
                </c:pt>
                <c:pt idx="3">
                  <c:v>27</c:v>
                </c:pt>
                <c:pt idx="4">
                  <c:v>36</c:v>
                </c:pt>
              </c:numCache>
            </c:numRef>
          </c:val>
          <c:extLst>
            <c:ext xmlns:c16="http://schemas.microsoft.com/office/drawing/2014/chart" uri="{C3380CC4-5D6E-409C-BE32-E72D297353CC}">
              <c16:uniqueId val="{00000009-258E-456C-AFAB-258CFD6A3924}"/>
            </c:ext>
          </c:extLst>
        </c:ser>
        <c:ser>
          <c:idx val="10"/>
          <c:order val="10"/>
          <c:tx>
            <c:strRef>
              <c:f>'Order level Analysis'!$L$5:$L$6</c:f>
              <c:strCache>
                <c:ptCount val="1"/>
                <c:pt idx="0">
                  <c:v>Bellandur, Sakara</c:v>
                </c:pt>
              </c:strCache>
            </c:strRef>
          </c:tx>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Analysis'!$L$7:$L$12</c:f>
              <c:numCache>
                <c:formatCode>General</c:formatCode>
                <c:ptCount val="5"/>
                <c:pt idx="0">
                  <c:v>7</c:v>
                </c:pt>
                <c:pt idx="1">
                  <c:v>2</c:v>
                </c:pt>
                <c:pt idx="2">
                  <c:v>1</c:v>
                </c:pt>
                <c:pt idx="4">
                  <c:v>1</c:v>
                </c:pt>
              </c:numCache>
            </c:numRef>
          </c:val>
          <c:extLst>
            <c:ext xmlns:c16="http://schemas.microsoft.com/office/drawing/2014/chart" uri="{C3380CC4-5D6E-409C-BE32-E72D297353CC}">
              <c16:uniqueId val="{0000000A-258E-456C-AFAB-258CFD6A3924}"/>
            </c:ext>
          </c:extLst>
        </c:ser>
        <c:ser>
          <c:idx val="11"/>
          <c:order val="11"/>
          <c:tx>
            <c:strRef>
              <c:f>'Order level Analysis'!$M$5:$M$6</c:f>
              <c:strCache>
                <c:ptCount val="1"/>
                <c:pt idx="0">
                  <c:v>Bellandur, Sarjapur Road</c:v>
                </c:pt>
              </c:strCache>
            </c:strRef>
          </c:tx>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Analysis'!$M$7:$M$12</c:f>
              <c:numCache>
                <c:formatCode>General</c:formatCode>
                <c:ptCount val="5"/>
                <c:pt idx="0">
                  <c:v>20</c:v>
                </c:pt>
                <c:pt idx="1">
                  <c:v>13</c:v>
                </c:pt>
                <c:pt idx="2">
                  <c:v>15</c:v>
                </c:pt>
                <c:pt idx="3">
                  <c:v>11</c:v>
                </c:pt>
                <c:pt idx="4">
                  <c:v>39</c:v>
                </c:pt>
              </c:numCache>
            </c:numRef>
          </c:val>
          <c:extLst>
            <c:ext xmlns:c16="http://schemas.microsoft.com/office/drawing/2014/chart" uri="{C3380CC4-5D6E-409C-BE32-E72D297353CC}">
              <c16:uniqueId val="{0000000B-258E-456C-AFAB-258CFD6A3924}"/>
            </c:ext>
          </c:extLst>
        </c:ser>
        <c:ser>
          <c:idx val="12"/>
          <c:order val="12"/>
          <c:tx>
            <c:strRef>
              <c:f>'Order level Analysis'!$N$5:$N$6</c:f>
              <c:strCache>
                <c:ptCount val="1"/>
                <c:pt idx="0">
                  <c:v>Bilekahalli</c:v>
                </c:pt>
              </c:strCache>
            </c:strRef>
          </c:tx>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Analysis'!$N$7:$N$12</c:f>
              <c:numCache>
                <c:formatCode>General</c:formatCode>
                <c:ptCount val="5"/>
                <c:pt idx="0">
                  <c:v>2</c:v>
                </c:pt>
                <c:pt idx="1">
                  <c:v>5</c:v>
                </c:pt>
                <c:pt idx="2">
                  <c:v>1</c:v>
                </c:pt>
                <c:pt idx="3">
                  <c:v>2</c:v>
                </c:pt>
                <c:pt idx="4">
                  <c:v>1</c:v>
                </c:pt>
              </c:numCache>
            </c:numRef>
          </c:val>
          <c:extLst>
            <c:ext xmlns:c16="http://schemas.microsoft.com/office/drawing/2014/chart" uri="{C3380CC4-5D6E-409C-BE32-E72D297353CC}">
              <c16:uniqueId val="{0000000C-258E-456C-AFAB-258CFD6A3924}"/>
            </c:ext>
          </c:extLst>
        </c:ser>
        <c:ser>
          <c:idx val="13"/>
          <c:order val="13"/>
          <c:tx>
            <c:strRef>
              <c:f>'Order level Analysis'!$O$5:$O$6</c:f>
              <c:strCache>
                <c:ptCount val="1"/>
                <c:pt idx="0">
                  <c:v>Binnipet</c:v>
                </c:pt>
              </c:strCache>
            </c:strRef>
          </c:tx>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Analysis'!$O$7:$O$12</c:f>
              <c:numCache>
                <c:formatCode>General</c:formatCode>
                <c:ptCount val="5"/>
                <c:pt idx="3">
                  <c:v>1</c:v>
                </c:pt>
              </c:numCache>
            </c:numRef>
          </c:val>
          <c:extLst>
            <c:ext xmlns:c16="http://schemas.microsoft.com/office/drawing/2014/chart" uri="{C3380CC4-5D6E-409C-BE32-E72D297353CC}">
              <c16:uniqueId val="{0000000D-258E-456C-AFAB-258CFD6A3924}"/>
            </c:ext>
          </c:extLst>
        </c:ser>
        <c:ser>
          <c:idx val="14"/>
          <c:order val="14"/>
          <c:tx>
            <c:strRef>
              <c:f>'Order level Analysis'!$P$5:$P$6</c:f>
              <c:strCache>
                <c:ptCount val="1"/>
                <c:pt idx="0">
                  <c:v>Bomannahali - MicoLayout</c:v>
                </c:pt>
              </c:strCache>
            </c:strRef>
          </c:tx>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Analysis'!$P$7:$P$12</c:f>
              <c:numCache>
                <c:formatCode>General</c:formatCode>
                <c:ptCount val="5"/>
                <c:pt idx="0">
                  <c:v>151</c:v>
                </c:pt>
                <c:pt idx="1">
                  <c:v>107</c:v>
                </c:pt>
                <c:pt idx="2">
                  <c:v>36</c:v>
                </c:pt>
                <c:pt idx="3">
                  <c:v>132</c:v>
                </c:pt>
                <c:pt idx="4">
                  <c:v>125</c:v>
                </c:pt>
              </c:numCache>
            </c:numRef>
          </c:val>
          <c:extLst>
            <c:ext xmlns:c16="http://schemas.microsoft.com/office/drawing/2014/chart" uri="{C3380CC4-5D6E-409C-BE32-E72D297353CC}">
              <c16:uniqueId val="{0000000E-258E-456C-AFAB-258CFD6A3924}"/>
            </c:ext>
          </c:extLst>
        </c:ser>
        <c:ser>
          <c:idx val="15"/>
          <c:order val="15"/>
          <c:tx>
            <c:strRef>
              <c:f>'Order level Analysis'!$Q$5:$Q$6</c:f>
              <c:strCache>
                <c:ptCount val="1"/>
                <c:pt idx="0">
                  <c:v>Bommanahalli</c:v>
                </c:pt>
              </c:strCache>
            </c:strRef>
          </c:tx>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Analysis'!$Q$7:$Q$12</c:f>
              <c:numCache>
                <c:formatCode>General</c:formatCode>
                <c:ptCount val="5"/>
                <c:pt idx="0">
                  <c:v>13</c:v>
                </c:pt>
                <c:pt idx="1">
                  <c:v>13</c:v>
                </c:pt>
                <c:pt idx="2">
                  <c:v>6</c:v>
                </c:pt>
                <c:pt idx="3">
                  <c:v>10</c:v>
                </c:pt>
                <c:pt idx="4">
                  <c:v>10</c:v>
                </c:pt>
              </c:numCache>
            </c:numRef>
          </c:val>
          <c:extLst>
            <c:ext xmlns:c16="http://schemas.microsoft.com/office/drawing/2014/chart" uri="{C3380CC4-5D6E-409C-BE32-E72D297353CC}">
              <c16:uniqueId val="{0000000F-258E-456C-AFAB-258CFD6A3924}"/>
            </c:ext>
          </c:extLst>
        </c:ser>
        <c:ser>
          <c:idx val="16"/>
          <c:order val="16"/>
          <c:tx>
            <c:strRef>
              <c:f>'Order level Analysis'!$R$5:$R$6</c:f>
              <c:strCache>
                <c:ptCount val="1"/>
                <c:pt idx="0">
                  <c:v>Brookefield</c:v>
                </c:pt>
              </c:strCache>
            </c:strRef>
          </c:tx>
          <c:spPr>
            <a:gradFill rotWithShape="1">
              <a:gsLst>
                <a:gs pos="0">
                  <a:schemeClr val="accent5">
                    <a:lumMod val="80000"/>
                    <a:lumOff val="20000"/>
                    <a:satMod val="103000"/>
                    <a:lumMod val="102000"/>
                    <a:tint val="94000"/>
                  </a:schemeClr>
                </a:gs>
                <a:gs pos="50000">
                  <a:schemeClr val="accent5">
                    <a:lumMod val="80000"/>
                    <a:lumOff val="20000"/>
                    <a:satMod val="110000"/>
                    <a:lumMod val="100000"/>
                    <a:shade val="100000"/>
                  </a:schemeClr>
                </a:gs>
                <a:gs pos="100000">
                  <a:schemeClr val="accent5">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Analysis'!$R$7:$R$12</c:f>
              <c:numCache>
                <c:formatCode>General</c:formatCode>
                <c:ptCount val="5"/>
                <c:pt idx="2">
                  <c:v>1</c:v>
                </c:pt>
              </c:numCache>
            </c:numRef>
          </c:val>
          <c:extLst>
            <c:ext xmlns:c16="http://schemas.microsoft.com/office/drawing/2014/chart" uri="{C3380CC4-5D6E-409C-BE32-E72D297353CC}">
              <c16:uniqueId val="{00000010-258E-456C-AFAB-258CFD6A3924}"/>
            </c:ext>
          </c:extLst>
        </c:ser>
        <c:ser>
          <c:idx val="17"/>
          <c:order val="17"/>
          <c:tx>
            <c:strRef>
              <c:f>'Order level Analysis'!$S$5:$S$6</c:f>
              <c:strCache>
                <c:ptCount val="1"/>
                <c:pt idx="0">
                  <c:v>BTM Stage 1</c:v>
                </c:pt>
              </c:strCache>
            </c:strRef>
          </c:tx>
          <c:spPr>
            <a:gradFill rotWithShape="1">
              <a:gsLst>
                <a:gs pos="0">
                  <a:schemeClr val="accent6">
                    <a:lumMod val="80000"/>
                    <a:lumOff val="20000"/>
                    <a:satMod val="103000"/>
                    <a:lumMod val="102000"/>
                    <a:tint val="94000"/>
                  </a:schemeClr>
                </a:gs>
                <a:gs pos="50000">
                  <a:schemeClr val="accent6">
                    <a:lumMod val="80000"/>
                    <a:lumOff val="20000"/>
                    <a:satMod val="110000"/>
                    <a:lumMod val="100000"/>
                    <a:shade val="100000"/>
                  </a:schemeClr>
                </a:gs>
                <a:gs pos="100000">
                  <a:schemeClr val="accent6">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Analysis'!$S$7:$S$12</c:f>
              <c:numCache>
                <c:formatCode>General</c:formatCode>
                <c:ptCount val="5"/>
                <c:pt idx="0">
                  <c:v>11</c:v>
                </c:pt>
                <c:pt idx="1">
                  <c:v>3</c:v>
                </c:pt>
                <c:pt idx="2">
                  <c:v>7</c:v>
                </c:pt>
                <c:pt idx="3">
                  <c:v>3</c:v>
                </c:pt>
                <c:pt idx="4">
                  <c:v>11</c:v>
                </c:pt>
              </c:numCache>
            </c:numRef>
          </c:val>
          <c:extLst>
            <c:ext xmlns:c16="http://schemas.microsoft.com/office/drawing/2014/chart" uri="{C3380CC4-5D6E-409C-BE32-E72D297353CC}">
              <c16:uniqueId val="{00000011-258E-456C-AFAB-258CFD6A3924}"/>
            </c:ext>
          </c:extLst>
        </c:ser>
        <c:ser>
          <c:idx val="18"/>
          <c:order val="18"/>
          <c:tx>
            <c:strRef>
              <c:f>'Order level Analysis'!$T$5:$T$6</c:f>
              <c:strCache>
                <c:ptCount val="1"/>
                <c:pt idx="0">
                  <c:v>BTM Stage 2</c:v>
                </c:pt>
              </c:strCache>
            </c:strRef>
          </c:tx>
          <c:spPr>
            <a:gradFill rotWithShape="1">
              <a:gsLst>
                <a:gs pos="0">
                  <a:schemeClr val="accent1">
                    <a:lumMod val="80000"/>
                    <a:satMod val="103000"/>
                    <a:lumMod val="102000"/>
                    <a:tint val="94000"/>
                  </a:schemeClr>
                </a:gs>
                <a:gs pos="50000">
                  <a:schemeClr val="accent1">
                    <a:lumMod val="80000"/>
                    <a:satMod val="110000"/>
                    <a:lumMod val="100000"/>
                    <a:shade val="100000"/>
                  </a:schemeClr>
                </a:gs>
                <a:gs pos="100000">
                  <a:schemeClr val="accent1">
                    <a:lumMod val="8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Analysis'!$T$7:$T$12</c:f>
              <c:numCache>
                <c:formatCode>General</c:formatCode>
                <c:ptCount val="5"/>
                <c:pt idx="0">
                  <c:v>6</c:v>
                </c:pt>
                <c:pt idx="1">
                  <c:v>6</c:v>
                </c:pt>
                <c:pt idx="2">
                  <c:v>5</c:v>
                </c:pt>
                <c:pt idx="3">
                  <c:v>7</c:v>
                </c:pt>
                <c:pt idx="4">
                  <c:v>8</c:v>
                </c:pt>
              </c:numCache>
            </c:numRef>
          </c:val>
          <c:extLst>
            <c:ext xmlns:c16="http://schemas.microsoft.com/office/drawing/2014/chart" uri="{C3380CC4-5D6E-409C-BE32-E72D297353CC}">
              <c16:uniqueId val="{00000012-258E-456C-AFAB-258CFD6A3924}"/>
            </c:ext>
          </c:extLst>
        </c:ser>
        <c:ser>
          <c:idx val="19"/>
          <c:order val="19"/>
          <c:tx>
            <c:strRef>
              <c:f>'Order level Analysis'!$U$5:$U$6</c:f>
              <c:strCache>
                <c:ptCount val="1"/>
                <c:pt idx="0">
                  <c:v>Challagatta</c:v>
                </c:pt>
              </c:strCache>
            </c:strRef>
          </c:tx>
          <c:spPr>
            <a:gradFill rotWithShape="1">
              <a:gsLst>
                <a:gs pos="0">
                  <a:schemeClr val="accent2">
                    <a:lumMod val="80000"/>
                    <a:satMod val="103000"/>
                    <a:lumMod val="102000"/>
                    <a:tint val="94000"/>
                  </a:schemeClr>
                </a:gs>
                <a:gs pos="50000">
                  <a:schemeClr val="accent2">
                    <a:lumMod val="80000"/>
                    <a:satMod val="110000"/>
                    <a:lumMod val="100000"/>
                    <a:shade val="100000"/>
                  </a:schemeClr>
                </a:gs>
                <a:gs pos="100000">
                  <a:schemeClr val="accent2">
                    <a:lumMod val="8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Analysis'!$U$7:$U$12</c:f>
              <c:numCache>
                <c:formatCode>General</c:formatCode>
                <c:ptCount val="5"/>
                <c:pt idx="2">
                  <c:v>1</c:v>
                </c:pt>
              </c:numCache>
            </c:numRef>
          </c:val>
          <c:extLst>
            <c:ext xmlns:c16="http://schemas.microsoft.com/office/drawing/2014/chart" uri="{C3380CC4-5D6E-409C-BE32-E72D297353CC}">
              <c16:uniqueId val="{00000013-258E-456C-AFAB-258CFD6A3924}"/>
            </c:ext>
          </c:extLst>
        </c:ser>
        <c:ser>
          <c:idx val="20"/>
          <c:order val="20"/>
          <c:tx>
            <c:strRef>
              <c:f>'Order level Analysis'!$V$5:$V$6</c:f>
              <c:strCache>
                <c:ptCount val="1"/>
                <c:pt idx="0">
                  <c:v>Cox Town</c:v>
                </c:pt>
              </c:strCache>
            </c:strRef>
          </c:tx>
          <c:spPr>
            <a:gradFill rotWithShape="1">
              <a:gsLst>
                <a:gs pos="0">
                  <a:schemeClr val="accent3">
                    <a:lumMod val="80000"/>
                    <a:satMod val="103000"/>
                    <a:lumMod val="102000"/>
                    <a:tint val="94000"/>
                  </a:schemeClr>
                </a:gs>
                <a:gs pos="50000">
                  <a:schemeClr val="accent3">
                    <a:lumMod val="80000"/>
                    <a:satMod val="110000"/>
                    <a:lumMod val="100000"/>
                    <a:shade val="100000"/>
                  </a:schemeClr>
                </a:gs>
                <a:gs pos="100000">
                  <a:schemeClr val="accent3">
                    <a:lumMod val="8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Analysis'!$V$7:$V$12</c:f>
              <c:numCache>
                <c:formatCode>General</c:formatCode>
                <c:ptCount val="5"/>
                <c:pt idx="3">
                  <c:v>1</c:v>
                </c:pt>
              </c:numCache>
            </c:numRef>
          </c:val>
          <c:extLst>
            <c:ext xmlns:c16="http://schemas.microsoft.com/office/drawing/2014/chart" uri="{C3380CC4-5D6E-409C-BE32-E72D297353CC}">
              <c16:uniqueId val="{00000014-258E-456C-AFAB-258CFD6A3924}"/>
            </c:ext>
          </c:extLst>
        </c:ser>
        <c:ser>
          <c:idx val="21"/>
          <c:order val="21"/>
          <c:tx>
            <c:strRef>
              <c:f>'Order level Analysis'!$W$5:$W$6</c:f>
              <c:strCache>
                <c:ptCount val="1"/>
                <c:pt idx="0">
                  <c:v>CV Raman Nagar</c:v>
                </c:pt>
              </c:strCache>
            </c:strRef>
          </c:tx>
          <c:spPr>
            <a:gradFill rotWithShape="1">
              <a:gsLst>
                <a:gs pos="0">
                  <a:schemeClr val="accent4">
                    <a:lumMod val="80000"/>
                    <a:satMod val="103000"/>
                    <a:lumMod val="102000"/>
                    <a:tint val="94000"/>
                  </a:schemeClr>
                </a:gs>
                <a:gs pos="50000">
                  <a:schemeClr val="accent4">
                    <a:lumMod val="80000"/>
                    <a:satMod val="110000"/>
                    <a:lumMod val="100000"/>
                    <a:shade val="100000"/>
                  </a:schemeClr>
                </a:gs>
                <a:gs pos="100000">
                  <a:schemeClr val="accent4">
                    <a:lumMod val="8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Analysis'!$W$7:$W$12</c:f>
              <c:numCache>
                <c:formatCode>General</c:formatCode>
                <c:ptCount val="5"/>
                <c:pt idx="2">
                  <c:v>1</c:v>
                </c:pt>
              </c:numCache>
            </c:numRef>
          </c:val>
          <c:extLst>
            <c:ext xmlns:c16="http://schemas.microsoft.com/office/drawing/2014/chart" uri="{C3380CC4-5D6E-409C-BE32-E72D297353CC}">
              <c16:uniqueId val="{00000015-258E-456C-AFAB-258CFD6A3924}"/>
            </c:ext>
          </c:extLst>
        </c:ser>
        <c:ser>
          <c:idx val="22"/>
          <c:order val="22"/>
          <c:tx>
            <c:strRef>
              <c:f>'Order level Analysis'!$X$5:$X$6</c:f>
              <c:strCache>
                <c:ptCount val="1"/>
                <c:pt idx="0">
                  <c:v>Devarachikanna Halli</c:v>
                </c:pt>
              </c:strCache>
            </c:strRef>
          </c:tx>
          <c:spPr>
            <a:gradFill rotWithShape="1">
              <a:gsLst>
                <a:gs pos="0">
                  <a:schemeClr val="accent5">
                    <a:lumMod val="80000"/>
                    <a:satMod val="103000"/>
                    <a:lumMod val="102000"/>
                    <a:tint val="94000"/>
                  </a:schemeClr>
                </a:gs>
                <a:gs pos="50000">
                  <a:schemeClr val="accent5">
                    <a:lumMod val="80000"/>
                    <a:satMod val="110000"/>
                    <a:lumMod val="100000"/>
                    <a:shade val="100000"/>
                  </a:schemeClr>
                </a:gs>
                <a:gs pos="100000">
                  <a:schemeClr val="accent5">
                    <a:lumMod val="8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Analysis'!$X$7:$X$12</c:f>
              <c:numCache>
                <c:formatCode>General</c:formatCode>
                <c:ptCount val="5"/>
                <c:pt idx="0">
                  <c:v>1</c:v>
                </c:pt>
                <c:pt idx="1">
                  <c:v>3</c:v>
                </c:pt>
                <c:pt idx="2">
                  <c:v>1</c:v>
                </c:pt>
                <c:pt idx="4">
                  <c:v>3</c:v>
                </c:pt>
              </c:numCache>
            </c:numRef>
          </c:val>
          <c:extLst>
            <c:ext xmlns:c16="http://schemas.microsoft.com/office/drawing/2014/chart" uri="{C3380CC4-5D6E-409C-BE32-E72D297353CC}">
              <c16:uniqueId val="{00000016-258E-456C-AFAB-258CFD6A3924}"/>
            </c:ext>
          </c:extLst>
        </c:ser>
        <c:ser>
          <c:idx val="23"/>
          <c:order val="23"/>
          <c:tx>
            <c:strRef>
              <c:f>'Order level Analysis'!$Y$5:$Y$6</c:f>
              <c:strCache>
                <c:ptCount val="1"/>
                <c:pt idx="0">
                  <c:v>Doddanekundi</c:v>
                </c:pt>
              </c:strCache>
            </c:strRef>
          </c:tx>
          <c:spPr>
            <a:gradFill rotWithShape="1">
              <a:gsLst>
                <a:gs pos="0">
                  <a:schemeClr val="accent6">
                    <a:lumMod val="80000"/>
                    <a:satMod val="103000"/>
                    <a:lumMod val="102000"/>
                    <a:tint val="94000"/>
                  </a:schemeClr>
                </a:gs>
                <a:gs pos="50000">
                  <a:schemeClr val="accent6">
                    <a:lumMod val="80000"/>
                    <a:satMod val="110000"/>
                    <a:lumMod val="100000"/>
                    <a:shade val="100000"/>
                  </a:schemeClr>
                </a:gs>
                <a:gs pos="100000">
                  <a:schemeClr val="accent6">
                    <a:lumMod val="8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Analysis'!$Y$7:$Y$12</c:f>
              <c:numCache>
                <c:formatCode>General</c:formatCode>
                <c:ptCount val="5"/>
                <c:pt idx="2">
                  <c:v>1</c:v>
                </c:pt>
                <c:pt idx="4">
                  <c:v>1</c:v>
                </c:pt>
              </c:numCache>
            </c:numRef>
          </c:val>
          <c:extLst>
            <c:ext xmlns:c16="http://schemas.microsoft.com/office/drawing/2014/chart" uri="{C3380CC4-5D6E-409C-BE32-E72D297353CC}">
              <c16:uniqueId val="{00000017-258E-456C-AFAB-258CFD6A3924}"/>
            </c:ext>
          </c:extLst>
        </c:ser>
        <c:ser>
          <c:idx val="24"/>
          <c:order val="24"/>
          <c:tx>
            <c:strRef>
              <c:f>'Order level Analysis'!$Z$5:$Z$6</c:f>
              <c:strCache>
                <c:ptCount val="1"/>
                <c:pt idx="0">
                  <c:v>Domlur, EGL</c:v>
                </c:pt>
              </c:strCache>
            </c:strRef>
          </c:tx>
          <c:spPr>
            <a:gradFill rotWithShape="1">
              <a:gsLst>
                <a:gs pos="0">
                  <a:schemeClr val="accent1">
                    <a:lumMod val="60000"/>
                    <a:lumOff val="40000"/>
                    <a:satMod val="103000"/>
                    <a:lumMod val="102000"/>
                    <a:tint val="94000"/>
                  </a:schemeClr>
                </a:gs>
                <a:gs pos="50000">
                  <a:schemeClr val="accent1">
                    <a:lumMod val="60000"/>
                    <a:lumOff val="40000"/>
                    <a:satMod val="110000"/>
                    <a:lumMod val="100000"/>
                    <a:shade val="100000"/>
                  </a:schemeClr>
                </a:gs>
                <a:gs pos="100000">
                  <a:schemeClr val="accent1">
                    <a:lumMod val="60000"/>
                    <a:lumOff val="4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Analysis'!$Z$7:$Z$12</c:f>
              <c:numCache>
                <c:formatCode>General</c:formatCode>
                <c:ptCount val="5"/>
                <c:pt idx="0">
                  <c:v>3</c:v>
                </c:pt>
                <c:pt idx="2">
                  <c:v>1</c:v>
                </c:pt>
                <c:pt idx="3">
                  <c:v>3</c:v>
                </c:pt>
                <c:pt idx="4">
                  <c:v>1</c:v>
                </c:pt>
              </c:numCache>
            </c:numRef>
          </c:val>
          <c:extLst>
            <c:ext xmlns:c16="http://schemas.microsoft.com/office/drawing/2014/chart" uri="{C3380CC4-5D6E-409C-BE32-E72D297353CC}">
              <c16:uniqueId val="{00000018-258E-456C-AFAB-258CFD6A3924}"/>
            </c:ext>
          </c:extLst>
        </c:ser>
        <c:ser>
          <c:idx val="25"/>
          <c:order val="25"/>
          <c:tx>
            <c:strRef>
              <c:f>'Order level Analysis'!$AA$5:$AA$6</c:f>
              <c:strCache>
                <c:ptCount val="1"/>
                <c:pt idx="0">
                  <c:v>Frazer Town</c:v>
                </c:pt>
              </c:strCache>
            </c:strRef>
          </c:tx>
          <c:spPr>
            <a:gradFill rotWithShape="1">
              <a:gsLst>
                <a:gs pos="0">
                  <a:schemeClr val="accent2">
                    <a:lumMod val="60000"/>
                    <a:lumOff val="40000"/>
                    <a:satMod val="103000"/>
                    <a:lumMod val="102000"/>
                    <a:tint val="94000"/>
                  </a:schemeClr>
                </a:gs>
                <a:gs pos="50000">
                  <a:schemeClr val="accent2">
                    <a:lumMod val="60000"/>
                    <a:lumOff val="40000"/>
                    <a:satMod val="110000"/>
                    <a:lumMod val="100000"/>
                    <a:shade val="100000"/>
                  </a:schemeClr>
                </a:gs>
                <a:gs pos="100000">
                  <a:schemeClr val="accent2">
                    <a:lumMod val="60000"/>
                    <a:lumOff val="4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Analysis'!$AA$7:$AA$12</c:f>
              <c:numCache>
                <c:formatCode>General</c:formatCode>
                <c:ptCount val="5"/>
                <c:pt idx="2">
                  <c:v>1</c:v>
                </c:pt>
              </c:numCache>
            </c:numRef>
          </c:val>
          <c:extLst>
            <c:ext xmlns:c16="http://schemas.microsoft.com/office/drawing/2014/chart" uri="{C3380CC4-5D6E-409C-BE32-E72D297353CC}">
              <c16:uniqueId val="{00000019-258E-456C-AFAB-258CFD6A3924}"/>
            </c:ext>
          </c:extLst>
        </c:ser>
        <c:ser>
          <c:idx val="26"/>
          <c:order val="26"/>
          <c:tx>
            <c:strRef>
              <c:f>'Order level Analysis'!$AB$5:$AB$6</c:f>
              <c:strCache>
                <c:ptCount val="1"/>
                <c:pt idx="0">
                  <c:v>Harlur</c:v>
                </c:pt>
              </c:strCache>
            </c:strRef>
          </c:tx>
          <c:spPr>
            <a:gradFill rotWithShape="1">
              <a:gsLst>
                <a:gs pos="0">
                  <a:schemeClr val="accent3">
                    <a:lumMod val="60000"/>
                    <a:lumOff val="40000"/>
                    <a:satMod val="103000"/>
                    <a:lumMod val="102000"/>
                    <a:tint val="94000"/>
                  </a:schemeClr>
                </a:gs>
                <a:gs pos="50000">
                  <a:schemeClr val="accent3">
                    <a:lumMod val="60000"/>
                    <a:lumOff val="40000"/>
                    <a:satMod val="110000"/>
                    <a:lumMod val="100000"/>
                    <a:shade val="100000"/>
                  </a:schemeClr>
                </a:gs>
                <a:gs pos="100000">
                  <a:schemeClr val="accent3">
                    <a:lumMod val="60000"/>
                    <a:lumOff val="4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Analysis'!$AB$7:$AB$12</c:f>
              <c:numCache>
                <c:formatCode>General</c:formatCode>
                <c:ptCount val="5"/>
                <c:pt idx="0">
                  <c:v>324</c:v>
                </c:pt>
                <c:pt idx="1">
                  <c:v>280</c:v>
                </c:pt>
                <c:pt idx="2">
                  <c:v>73</c:v>
                </c:pt>
                <c:pt idx="3">
                  <c:v>382</c:v>
                </c:pt>
                <c:pt idx="4">
                  <c:v>250</c:v>
                </c:pt>
              </c:numCache>
            </c:numRef>
          </c:val>
          <c:extLst>
            <c:ext xmlns:c16="http://schemas.microsoft.com/office/drawing/2014/chart" uri="{C3380CC4-5D6E-409C-BE32-E72D297353CC}">
              <c16:uniqueId val="{0000001A-258E-456C-AFAB-258CFD6A3924}"/>
            </c:ext>
          </c:extLst>
        </c:ser>
        <c:ser>
          <c:idx val="27"/>
          <c:order val="27"/>
          <c:tx>
            <c:strRef>
              <c:f>'Order level Analysis'!$AC$5:$AC$6</c:f>
              <c:strCache>
                <c:ptCount val="1"/>
                <c:pt idx="0">
                  <c:v>HSR Layout</c:v>
                </c:pt>
              </c:strCache>
            </c:strRef>
          </c:tx>
          <c:spPr>
            <a:gradFill rotWithShape="1">
              <a:gsLst>
                <a:gs pos="0">
                  <a:schemeClr val="accent4">
                    <a:lumMod val="60000"/>
                    <a:lumOff val="40000"/>
                    <a:satMod val="103000"/>
                    <a:lumMod val="102000"/>
                    <a:tint val="94000"/>
                  </a:schemeClr>
                </a:gs>
                <a:gs pos="50000">
                  <a:schemeClr val="accent4">
                    <a:lumMod val="60000"/>
                    <a:lumOff val="40000"/>
                    <a:satMod val="110000"/>
                    <a:lumMod val="100000"/>
                    <a:shade val="100000"/>
                  </a:schemeClr>
                </a:gs>
                <a:gs pos="100000">
                  <a:schemeClr val="accent4">
                    <a:lumMod val="60000"/>
                    <a:lumOff val="4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Analysis'!$AC$7:$AC$12</c:f>
              <c:numCache>
                <c:formatCode>General</c:formatCode>
                <c:ptCount val="5"/>
                <c:pt idx="0">
                  <c:v>4085</c:v>
                </c:pt>
                <c:pt idx="1">
                  <c:v>3288</c:v>
                </c:pt>
                <c:pt idx="2">
                  <c:v>953</c:v>
                </c:pt>
                <c:pt idx="3">
                  <c:v>3749</c:v>
                </c:pt>
                <c:pt idx="4">
                  <c:v>3582</c:v>
                </c:pt>
              </c:numCache>
            </c:numRef>
          </c:val>
          <c:extLst>
            <c:ext xmlns:c16="http://schemas.microsoft.com/office/drawing/2014/chart" uri="{C3380CC4-5D6E-409C-BE32-E72D297353CC}">
              <c16:uniqueId val="{0000001B-258E-456C-AFAB-258CFD6A3924}"/>
            </c:ext>
          </c:extLst>
        </c:ser>
        <c:ser>
          <c:idx val="28"/>
          <c:order val="28"/>
          <c:tx>
            <c:strRef>
              <c:f>'Order level Analysis'!$AD$5:$AD$6</c:f>
              <c:strCache>
                <c:ptCount val="1"/>
                <c:pt idx="0">
                  <c:v>Indiranagar</c:v>
                </c:pt>
              </c:strCache>
            </c:strRef>
          </c:tx>
          <c:spPr>
            <a:gradFill rotWithShape="1">
              <a:gsLst>
                <a:gs pos="0">
                  <a:schemeClr val="accent5">
                    <a:lumMod val="60000"/>
                    <a:lumOff val="40000"/>
                    <a:satMod val="103000"/>
                    <a:lumMod val="102000"/>
                    <a:tint val="94000"/>
                  </a:schemeClr>
                </a:gs>
                <a:gs pos="50000">
                  <a:schemeClr val="accent5">
                    <a:lumMod val="60000"/>
                    <a:lumOff val="40000"/>
                    <a:satMod val="110000"/>
                    <a:lumMod val="100000"/>
                    <a:shade val="100000"/>
                  </a:schemeClr>
                </a:gs>
                <a:gs pos="100000">
                  <a:schemeClr val="accent5">
                    <a:lumMod val="60000"/>
                    <a:lumOff val="4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Analysis'!$AD$7:$AD$12</c:f>
              <c:numCache>
                <c:formatCode>General</c:formatCode>
                <c:ptCount val="5"/>
                <c:pt idx="0">
                  <c:v>3</c:v>
                </c:pt>
                <c:pt idx="2">
                  <c:v>2</c:v>
                </c:pt>
                <c:pt idx="3">
                  <c:v>1</c:v>
                </c:pt>
                <c:pt idx="4">
                  <c:v>2</c:v>
                </c:pt>
              </c:numCache>
            </c:numRef>
          </c:val>
          <c:extLst>
            <c:ext xmlns:c16="http://schemas.microsoft.com/office/drawing/2014/chart" uri="{C3380CC4-5D6E-409C-BE32-E72D297353CC}">
              <c16:uniqueId val="{0000001C-258E-456C-AFAB-258CFD6A3924}"/>
            </c:ext>
          </c:extLst>
        </c:ser>
        <c:ser>
          <c:idx val="29"/>
          <c:order val="29"/>
          <c:tx>
            <c:strRef>
              <c:f>'Order level Analysis'!$AE$5:$AE$6</c:f>
              <c:strCache>
                <c:ptCount val="1"/>
                <c:pt idx="0">
                  <c:v>ITI Layout</c:v>
                </c:pt>
              </c:strCache>
            </c:strRef>
          </c:tx>
          <c:spPr>
            <a:gradFill rotWithShape="1">
              <a:gsLst>
                <a:gs pos="0">
                  <a:schemeClr val="accent6">
                    <a:lumMod val="60000"/>
                    <a:lumOff val="40000"/>
                    <a:satMod val="103000"/>
                    <a:lumMod val="102000"/>
                    <a:tint val="94000"/>
                  </a:schemeClr>
                </a:gs>
                <a:gs pos="50000">
                  <a:schemeClr val="accent6">
                    <a:lumMod val="60000"/>
                    <a:lumOff val="40000"/>
                    <a:satMod val="110000"/>
                    <a:lumMod val="100000"/>
                    <a:shade val="100000"/>
                  </a:schemeClr>
                </a:gs>
                <a:gs pos="100000">
                  <a:schemeClr val="accent6">
                    <a:lumMod val="60000"/>
                    <a:lumOff val="4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Analysis'!$AE$7:$AE$12</c:f>
              <c:numCache>
                <c:formatCode>General</c:formatCode>
                <c:ptCount val="5"/>
                <c:pt idx="0">
                  <c:v>1039</c:v>
                </c:pt>
                <c:pt idx="1">
                  <c:v>757</c:v>
                </c:pt>
                <c:pt idx="2">
                  <c:v>346</c:v>
                </c:pt>
                <c:pt idx="3">
                  <c:v>868</c:v>
                </c:pt>
                <c:pt idx="4">
                  <c:v>936</c:v>
                </c:pt>
              </c:numCache>
            </c:numRef>
          </c:val>
          <c:extLst>
            <c:ext xmlns:c16="http://schemas.microsoft.com/office/drawing/2014/chart" uri="{C3380CC4-5D6E-409C-BE32-E72D297353CC}">
              <c16:uniqueId val="{0000001D-258E-456C-AFAB-258CFD6A3924}"/>
            </c:ext>
          </c:extLst>
        </c:ser>
        <c:ser>
          <c:idx val="30"/>
          <c:order val="30"/>
          <c:tx>
            <c:strRef>
              <c:f>'Order level Analysis'!$AF$5:$AF$6</c:f>
              <c:strCache>
                <c:ptCount val="1"/>
                <c:pt idx="0">
                  <c:v>Jayanagar</c:v>
                </c:pt>
              </c:strCache>
            </c:strRef>
          </c:tx>
          <c:spPr>
            <a:gradFill rotWithShape="1">
              <a:gsLst>
                <a:gs pos="0">
                  <a:schemeClr val="accent1">
                    <a:lumMod val="50000"/>
                    <a:satMod val="103000"/>
                    <a:lumMod val="102000"/>
                    <a:tint val="94000"/>
                  </a:schemeClr>
                </a:gs>
                <a:gs pos="50000">
                  <a:schemeClr val="accent1">
                    <a:lumMod val="50000"/>
                    <a:satMod val="110000"/>
                    <a:lumMod val="100000"/>
                    <a:shade val="100000"/>
                  </a:schemeClr>
                </a:gs>
                <a:gs pos="100000">
                  <a:schemeClr val="accent1">
                    <a:lumMod val="5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Analysis'!$AF$7:$AF$12</c:f>
              <c:numCache>
                <c:formatCode>General</c:formatCode>
                <c:ptCount val="5"/>
                <c:pt idx="0">
                  <c:v>1</c:v>
                </c:pt>
                <c:pt idx="1">
                  <c:v>1</c:v>
                </c:pt>
                <c:pt idx="3">
                  <c:v>1</c:v>
                </c:pt>
              </c:numCache>
            </c:numRef>
          </c:val>
          <c:extLst>
            <c:ext xmlns:c16="http://schemas.microsoft.com/office/drawing/2014/chart" uri="{C3380CC4-5D6E-409C-BE32-E72D297353CC}">
              <c16:uniqueId val="{0000001E-258E-456C-AFAB-258CFD6A3924}"/>
            </c:ext>
          </c:extLst>
        </c:ser>
        <c:ser>
          <c:idx val="31"/>
          <c:order val="31"/>
          <c:tx>
            <c:strRef>
              <c:f>'Order level Analysis'!$AG$5:$AG$6</c:f>
              <c:strCache>
                <c:ptCount val="1"/>
                <c:pt idx="0">
                  <c:v>JP Nagar Phase 1-3</c:v>
                </c:pt>
              </c:strCache>
            </c:strRef>
          </c:tx>
          <c:spPr>
            <a:gradFill rotWithShape="1">
              <a:gsLst>
                <a:gs pos="0">
                  <a:schemeClr val="accent2">
                    <a:lumMod val="50000"/>
                    <a:satMod val="103000"/>
                    <a:lumMod val="102000"/>
                    <a:tint val="94000"/>
                  </a:schemeClr>
                </a:gs>
                <a:gs pos="50000">
                  <a:schemeClr val="accent2">
                    <a:lumMod val="50000"/>
                    <a:satMod val="110000"/>
                    <a:lumMod val="100000"/>
                    <a:shade val="100000"/>
                  </a:schemeClr>
                </a:gs>
                <a:gs pos="100000">
                  <a:schemeClr val="accent2">
                    <a:lumMod val="5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Analysis'!$AG$7:$AG$12</c:f>
              <c:numCache>
                <c:formatCode>General</c:formatCode>
                <c:ptCount val="5"/>
                <c:pt idx="1">
                  <c:v>2</c:v>
                </c:pt>
                <c:pt idx="2">
                  <c:v>1</c:v>
                </c:pt>
                <c:pt idx="3">
                  <c:v>1</c:v>
                </c:pt>
                <c:pt idx="4">
                  <c:v>1</c:v>
                </c:pt>
              </c:numCache>
            </c:numRef>
          </c:val>
          <c:extLst>
            <c:ext xmlns:c16="http://schemas.microsoft.com/office/drawing/2014/chart" uri="{C3380CC4-5D6E-409C-BE32-E72D297353CC}">
              <c16:uniqueId val="{0000001F-258E-456C-AFAB-258CFD6A3924}"/>
            </c:ext>
          </c:extLst>
        </c:ser>
        <c:ser>
          <c:idx val="32"/>
          <c:order val="32"/>
          <c:tx>
            <c:strRef>
              <c:f>'Order level Analysis'!$AH$5:$AH$6</c:f>
              <c:strCache>
                <c:ptCount val="1"/>
                <c:pt idx="0">
                  <c:v>JP Nagar Phase 4-5</c:v>
                </c:pt>
              </c:strCache>
            </c:strRef>
          </c:tx>
          <c:spPr>
            <a:gradFill rotWithShape="1">
              <a:gsLst>
                <a:gs pos="0">
                  <a:schemeClr val="accent3">
                    <a:lumMod val="50000"/>
                    <a:satMod val="103000"/>
                    <a:lumMod val="102000"/>
                    <a:tint val="94000"/>
                  </a:schemeClr>
                </a:gs>
                <a:gs pos="50000">
                  <a:schemeClr val="accent3">
                    <a:lumMod val="50000"/>
                    <a:satMod val="110000"/>
                    <a:lumMod val="100000"/>
                    <a:shade val="100000"/>
                  </a:schemeClr>
                </a:gs>
                <a:gs pos="100000">
                  <a:schemeClr val="accent3">
                    <a:lumMod val="5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Analysis'!$AH$7:$AH$12</c:f>
              <c:numCache>
                <c:formatCode>General</c:formatCode>
                <c:ptCount val="5"/>
                <c:pt idx="0">
                  <c:v>2</c:v>
                </c:pt>
                <c:pt idx="1">
                  <c:v>1</c:v>
                </c:pt>
                <c:pt idx="2">
                  <c:v>1</c:v>
                </c:pt>
                <c:pt idx="3">
                  <c:v>2</c:v>
                </c:pt>
                <c:pt idx="4">
                  <c:v>1</c:v>
                </c:pt>
              </c:numCache>
            </c:numRef>
          </c:val>
          <c:extLst>
            <c:ext xmlns:c16="http://schemas.microsoft.com/office/drawing/2014/chart" uri="{C3380CC4-5D6E-409C-BE32-E72D297353CC}">
              <c16:uniqueId val="{00000020-258E-456C-AFAB-258CFD6A3924}"/>
            </c:ext>
          </c:extLst>
        </c:ser>
        <c:ser>
          <c:idx val="33"/>
          <c:order val="33"/>
          <c:tx>
            <c:strRef>
              <c:f>'Order level Analysis'!$AI$5:$AI$6</c:f>
              <c:strCache>
                <c:ptCount val="1"/>
                <c:pt idx="0">
                  <c:v>JP Nagar Phase 6-7</c:v>
                </c:pt>
              </c:strCache>
            </c:strRef>
          </c:tx>
          <c:spPr>
            <a:gradFill rotWithShape="1">
              <a:gsLst>
                <a:gs pos="0">
                  <a:schemeClr val="accent4">
                    <a:lumMod val="50000"/>
                    <a:satMod val="103000"/>
                    <a:lumMod val="102000"/>
                    <a:tint val="94000"/>
                  </a:schemeClr>
                </a:gs>
                <a:gs pos="50000">
                  <a:schemeClr val="accent4">
                    <a:lumMod val="50000"/>
                    <a:satMod val="110000"/>
                    <a:lumMod val="100000"/>
                    <a:shade val="100000"/>
                  </a:schemeClr>
                </a:gs>
                <a:gs pos="100000">
                  <a:schemeClr val="accent4">
                    <a:lumMod val="5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Analysis'!$AI$7:$AI$12</c:f>
              <c:numCache>
                <c:formatCode>General</c:formatCode>
                <c:ptCount val="5"/>
                <c:pt idx="0">
                  <c:v>3</c:v>
                </c:pt>
                <c:pt idx="2">
                  <c:v>1</c:v>
                </c:pt>
                <c:pt idx="3">
                  <c:v>2</c:v>
                </c:pt>
              </c:numCache>
            </c:numRef>
          </c:val>
          <c:extLst>
            <c:ext xmlns:c16="http://schemas.microsoft.com/office/drawing/2014/chart" uri="{C3380CC4-5D6E-409C-BE32-E72D297353CC}">
              <c16:uniqueId val="{00000021-258E-456C-AFAB-258CFD6A3924}"/>
            </c:ext>
          </c:extLst>
        </c:ser>
        <c:ser>
          <c:idx val="34"/>
          <c:order val="34"/>
          <c:tx>
            <c:strRef>
              <c:f>'Order level Analysis'!$AJ$5:$AJ$6</c:f>
              <c:strCache>
                <c:ptCount val="1"/>
                <c:pt idx="0">
                  <c:v>JP Nagar Phase 8-9</c:v>
                </c:pt>
              </c:strCache>
            </c:strRef>
          </c:tx>
          <c:spPr>
            <a:gradFill rotWithShape="1">
              <a:gsLst>
                <a:gs pos="0">
                  <a:schemeClr val="accent5">
                    <a:lumMod val="50000"/>
                    <a:satMod val="103000"/>
                    <a:lumMod val="102000"/>
                    <a:tint val="94000"/>
                  </a:schemeClr>
                </a:gs>
                <a:gs pos="50000">
                  <a:schemeClr val="accent5">
                    <a:lumMod val="50000"/>
                    <a:satMod val="110000"/>
                    <a:lumMod val="100000"/>
                    <a:shade val="100000"/>
                  </a:schemeClr>
                </a:gs>
                <a:gs pos="100000">
                  <a:schemeClr val="accent5">
                    <a:lumMod val="5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Analysis'!$AJ$7:$AJ$12</c:f>
              <c:numCache>
                <c:formatCode>General</c:formatCode>
                <c:ptCount val="5"/>
                <c:pt idx="1">
                  <c:v>1</c:v>
                </c:pt>
              </c:numCache>
            </c:numRef>
          </c:val>
          <c:extLst>
            <c:ext xmlns:c16="http://schemas.microsoft.com/office/drawing/2014/chart" uri="{C3380CC4-5D6E-409C-BE32-E72D297353CC}">
              <c16:uniqueId val="{00000022-258E-456C-AFAB-258CFD6A3924}"/>
            </c:ext>
          </c:extLst>
        </c:ser>
        <c:ser>
          <c:idx val="35"/>
          <c:order val="35"/>
          <c:tx>
            <c:strRef>
              <c:f>'Order level Analysis'!$AK$5:$AK$6</c:f>
              <c:strCache>
                <c:ptCount val="1"/>
                <c:pt idx="0">
                  <c:v>Kadubeesanhali, Prestige</c:v>
                </c:pt>
              </c:strCache>
            </c:strRef>
          </c:tx>
          <c:spPr>
            <a:gradFill rotWithShape="1">
              <a:gsLst>
                <a:gs pos="0">
                  <a:schemeClr val="accent6">
                    <a:lumMod val="50000"/>
                    <a:satMod val="103000"/>
                    <a:lumMod val="102000"/>
                    <a:tint val="94000"/>
                  </a:schemeClr>
                </a:gs>
                <a:gs pos="50000">
                  <a:schemeClr val="accent6">
                    <a:lumMod val="50000"/>
                    <a:satMod val="110000"/>
                    <a:lumMod val="100000"/>
                    <a:shade val="100000"/>
                  </a:schemeClr>
                </a:gs>
                <a:gs pos="100000">
                  <a:schemeClr val="accent6">
                    <a:lumMod val="5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Analysis'!$AK$7:$AK$12</c:f>
              <c:numCache>
                <c:formatCode>General</c:formatCode>
                <c:ptCount val="5"/>
                <c:pt idx="0">
                  <c:v>1</c:v>
                </c:pt>
                <c:pt idx="2">
                  <c:v>6</c:v>
                </c:pt>
                <c:pt idx="4">
                  <c:v>2</c:v>
                </c:pt>
              </c:numCache>
            </c:numRef>
          </c:val>
          <c:extLst>
            <c:ext xmlns:c16="http://schemas.microsoft.com/office/drawing/2014/chart" uri="{C3380CC4-5D6E-409C-BE32-E72D297353CC}">
              <c16:uniqueId val="{00000023-258E-456C-AFAB-258CFD6A3924}"/>
            </c:ext>
          </c:extLst>
        </c:ser>
        <c:ser>
          <c:idx val="36"/>
          <c:order val="36"/>
          <c:tx>
            <c:strRef>
              <c:f>'Order level Analysis'!$AL$5:$AL$6</c:f>
              <c:strCache>
                <c:ptCount val="1"/>
                <c:pt idx="0">
                  <c:v>Kadubeesanhali, PTP</c:v>
                </c:pt>
              </c:strCache>
            </c:strRef>
          </c:tx>
          <c:spPr>
            <a:gradFill rotWithShape="1">
              <a:gsLst>
                <a:gs pos="0">
                  <a:schemeClr val="accent1">
                    <a:lumMod val="70000"/>
                    <a:lumOff val="30000"/>
                    <a:satMod val="103000"/>
                    <a:lumMod val="102000"/>
                    <a:tint val="94000"/>
                  </a:schemeClr>
                </a:gs>
                <a:gs pos="50000">
                  <a:schemeClr val="accent1">
                    <a:lumMod val="70000"/>
                    <a:lumOff val="30000"/>
                    <a:satMod val="110000"/>
                    <a:lumMod val="100000"/>
                    <a:shade val="100000"/>
                  </a:schemeClr>
                </a:gs>
                <a:gs pos="100000">
                  <a:schemeClr val="accent1">
                    <a:lumMod val="70000"/>
                    <a:lumOff val="3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Analysis'!$AL$7:$AL$12</c:f>
              <c:numCache>
                <c:formatCode>General</c:formatCode>
                <c:ptCount val="5"/>
                <c:pt idx="4">
                  <c:v>1</c:v>
                </c:pt>
              </c:numCache>
            </c:numRef>
          </c:val>
          <c:extLst>
            <c:ext xmlns:c16="http://schemas.microsoft.com/office/drawing/2014/chart" uri="{C3380CC4-5D6E-409C-BE32-E72D297353CC}">
              <c16:uniqueId val="{00000024-258E-456C-AFAB-258CFD6A3924}"/>
            </c:ext>
          </c:extLst>
        </c:ser>
        <c:ser>
          <c:idx val="37"/>
          <c:order val="37"/>
          <c:tx>
            <c:strRef>
              <c:f>'Order level Analysis'!$AM$5:$AM$6</c:f>
              <c:strCache>
                <c:ptCount val="1"/>
                <c:pt idx="0">
                  <c:v>Koramangala, Ejipura</c:v>
                </c:pt>
              </c:strCache>
            </c:strRef>
          </c:tx>
          <c:spPr>
            <a:gradFill rotWithShape="1">
              <a:gsLst>
                <a:gs pos="0">
                  <a:schemeClr val="accent2">
                    <a:lumMod val="70000"/>
                    <a:lumOff val="30000"/>
                    <a:satMod val="103000"/>
                    <a:lumMod val="102000"/>
                    <a:tint val="94000"/>
                  </a:schemeClr>
                </a:gs>
                <a:gs pos="50000">
                  <a:schemeClr val="accent2">
                    <a:lumMod val="70000"/>
                    <a:lumOff val="30000"/>
                    <a:satMod val="110000"/>
                    <a:lumMod val="100000"/>
                    <a:shade val="100000"/>
                  </a:schemeClr>
                </a:gs>
                <a:gs pos="100000">
                  <a:schemeClr val="accent2">
                    <a:lumMod val="70000"/>
                    <a:lumOff val="3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Analysis'!$AM$7:$AM$12</c:f>
              <c:numCache>
                <c:formatCode>General</c:formatCode>
                <c:ptCount val="5"/>
                <c:pt idx="0">
                  <c:v>33</c:v>
                </c:pt>
                <c:pt idx="1">
                  <c:v>30</c:v>
                </c:pt>
                <c:pt idx="2">
                  <c:v>35</c:v>
                </c:pt>
                <c:pt idx="3">
                  <c:v>25</c:v>
                </c:pt>
                <c:pt idx="4">
                  <c:v>37</c:v>
                </c:pt>
              </c:numCache>
            </c:numRef>
          </c:val>
          <c:extLst>
            <c:ext xmlns:c16="http://schemas.microsoft.com/office/drawing/2014/chart" uri="{C3380CC4-5D6E-409C-BE32-E72D297353CC}">
              <c16:uniqueId val="{00000025-258E-456C-AFAB-258CFD6A3924}"/>
            </c:ext>
          </c:extLst>
        </c:ser>
        <c:ser>
          <c:idx val="38"/>
          <c:order val="38"/>
          <c:tx>
            <c:strRef>
              <c:f>'Order level Analysis'!$AN$5:$AN$6</c:f>
              <c:strCache>
                <c:ptCount val="1"/>
                <c:pt idx="0">
                  <c:v>Kudlu</c:v>
                </c:pt>
              </c:strCache>
            </c:strRef>
          </c:tx>
          <c:spPr>
            <a:gradFill rotWithShape="1">
              <a:gsLst>
                <a:gs pos="0">
                  <a:schemeClr val="accent3">
                    <a:lumMod val="70000"/>
                    <a:lumOff val="30000"/>
                    <a:satMod val="103000"/>
                    <a:lumMod val="102000"/>
                    <a:tint val="94000"/>
                  </a:schemeClr>
                </a:gs>
                <a:gs pos="50000">
                  <a:schemeClr val="accent3">
                    <a:lumMod val="70000"/>
                    <a:lumOff val="30000"/>
                    <a:satMod val="110000"/>
                    <a:lumMod val="100000"/>
                    <a:shade val="100000"/>
                  </a:schemeClr>
                </a:gs>
                <a:gs pos="100000">
                  <a:schemeClr val="accent3">
                    <a:lumMod val="70000"/>
                    <a:lumOff val="3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Analysis'!$AN$7:$AN$12</c:f>
              <c:numCache>
                <c:formatCode>General</c:formatCode>
                <c:ptCount val="5"/>
                <c:pt idx="0">
                  <c:v>130</c:v>
                </c:pt>
                <c:pt idx="1">
                  <c:v>108</c:v>
                </c:pt>
                <c:pt idx="2">
                  <c:v>57</c:v>
                </c:pt>
                <c:pt idx="3">
                  <c:v>118</c:v>
                </c:pt>
                <c:pt idx="4">
                  <c:v>105</c:v>
                </c:pt>
              </c:numCache>
            </c:numRef>
          </c:val>
          <c:extLst>
            <c:ext xmlns:c16="http://schemas.microsoft.com/office/drawing/2014/chart" uri="{C3380CC4-5D6E-409C-BE32-E72D297353CC}">
              <c16:uniqueId val="{00000026-258E-456C-AFAB-258CFD6A3924}"/>
            </c:ext>
          </c:extLst>
        </c:ser>
        <c:ser>
          <c:idx val="39"/>
          <c:order val="39"/>
          <c:tx>
            <c:strRef>
              <c:f>'Order level Analysis'!$AO$5:$AO$6</c:f>
              <c:strCache>
                <c:ptCount val="1"/>
                <c:pt idx="0">
                  <c:v>Kumaraswamy Layout</c:v>
                </c:pt>
              </c:strCache>
            </c:strRef>
          </c:tx>
          <c:spPr>
            <a:gradFill rotWithShape="1">
              <a:gsLst>
                <a:gs pos="0">
                  <a:schemeClr val="accent4">
                    <a:lumMod val="70000"/>
                    <a:lumOff val="30000"/>
                    <a:satMod val="103000"/>
                    <a:lumMod val="102000"/>
                    <a:tint val="94000"/>
                  </a:schemeClr>
                </a:gs>
                <a:gs pos="50000">
                  <a:schemeClr val="accent4">
                    <a:lumMod val="70000"/>
                    <a:lumOff val="30000"/>
                    <a:satMod val="110000"/>
                    <a:lumMod val="100000"/>
                    <a:shade val="100000"/>
                  </a:schemeClr>
                </a:gs>
                <a:gs pos="100000">
                  <a:schemeClr val="accent4">
                    <a:lumMod val="70000"/>
                    <a:lumOff val="3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Analysis'!$AO$7:$AO$12</c:f>
              <c:numCache>
                <c:formatCode>General</c:formatCode>
                <c:ptCount val="5"/>
                <c:pt idx="0">
                  <c:v>1</c:v>
                </c:pt>
                <c:pt idx="1">
                  <c:v>1</c:v>
                </c:pt>
                <c:pt idx="3">
                  <c:v>1</c:v>
                </c:pt>
                <c:pt idx="4">
                  <c:v>1</c:v>
                </c:pt>
              </c:numCache>
            </c:numRef>
          </c:val>
          <c:extLst>
            <c:ext xmlns:c16="http://schemas.microsoft.com/office/drawing/2014/chart" uri="{C3380CC4-5D6E-409C-BE32-E72D297353CC}">
              <c16:uniqueId val="{00000027-258E-456C-AFAB-258CFD6A3924}"/>
            </c:ext>
          </c:extLst>
        </c:ser>
        <c:ser>
          <c:idx val="40"/>
          <c:order val="40"/>
          <c:tx>
            <c:strRef>
              <c:f>'Order level Analysis'!$AP$5:$AP$6</c:f>
              <c:strCache>
                <c:ptCount val="1"/>
                <c:pt idx="0">
                  <c:v>Mahadevapura</c:v>
                </c:pt>
              </c:strCache>
            </c:strRef>
          </c:tx>
          <c:spPr>
            <a:gradFill rotWithShape="1">
              <a:gsLst>
                <a:gs pos="0">
                  <a:schemeClr val="accent5">
                    <a:lumMod val="70000"/>
                    <a:lumOff val="30000"/>
                    <a:satMod val="103000"/>
                    <a:lumMod val="102000"/>
                    <a:tint val="94000"/>
                  </a:schemeClr>
                </a:gs>
                <a:gs pos="50000">
                  <a:schemeClr val="accent5">
                    <a:lumMod val="70000"/>
                    <a:lumOff val="30000"/>
                    <a:satMod val="110000"/>
                    <a:lumMod val="100000"/>
                    <a:shade val="100000"/>
                  </a:schemeClr>
                </a:gs>
                <a:gs pos="100000">
                  <a:schemeClr val="accent5">
                    <a:lumMod val="70000"/>
                    <a:lumOff val="3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Analysis'!$AP$7:$AP$12</c:f>
              <c:numCache>
                <c:formatCode>General</c:formatCode>
                <c:ptCount val="5"/>
                <c:pt idx="3">
                  <c:v>1</c:v>
                </c:pt>
              </c:numCache>
            </c:numRef>
          </c:val>
          <c:extLst>
            <c:ext xmlns:c16="http://schemas.microsoft.com/office/drawing/2014/chart" uri="{C3380CC4-5D6E-409C-BE32-E72D297353CC}">
              <c16:uniqueId val="{00000028-258E-456C-AFAB-258CFD6A3924}"/>
            </c:ext>
          </c:extLst>
        </c:ser>
        <c:ser>
          <c:idx val="41"/>
          <c:order val="41"/>
          <c:tx>
            <c:strRef>
              <c:f>'Order level Analysis'!$AQ$5:$AQ$6</c:f>
              <c:strCache>
                <c:ptCount val="1"/>
                <c:pt idx="0">
                  <c:v>Manipal County</c:v>
                </c:pt>
              </c:strCache>
            </c:strRef>
          </c:tx>
          <c:spPr>
            <a:gradFill rotWithShape="1">
              <a:gsLst>
                <a:gs pos="0">
                  <a:schemeClr val="accent6">
                    <a:lumMod val="70000"/>
                    <a:lumOff val="30000"/>
                    <a:satMod val="103000"/>
                    <a:lumMod val="102000"/>
                    <a:tint val="94000"/>
                  </a:schemeClr>
                </a:gs>
                <a:gs pos="50000">
                  <a:schemeClr val="accent6">
                    <a:lumMod val="70000"/>
                    <a:lumOff val="30000"/>
                    <a:satMod val="110000"/>
                    <a:lumMod val="100000"/>
                    <a:shade val="100000"/>
                  </a:schemeClr>
                </a:gs>
                <a:gs pos="100000">
                  <a:schemeClr val="accent6">
                    <a:lumMod val="70000"/>
                    <a:lumOff val="3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Analysis'!$AQ$7:$AQ$12</c:f>
              <c:numCache>
                <c:formatCode>General</c:formatCode>
                <c:ptCount val="5"/>
                <c:pt idx="0">
                  <c:v>20</c:v>
                </c:pt>
                <c:pt idx="1">
                  <c:v>16</c:v>
                </c:pt>
                <c:pt idx="2">
                  <c:v>13</c:v>
                </c:pt>
                <c:pt idx="3">
                  <c:v>18</c:v>
                </c:pt>
                <c:pt idx="4">
                  <c:v>13</c:v>
                </c:pt>
              </c:numCache>
            </c:numRef>
          </c:val>
          <c:extLst>
            <c:ext xmlns:c16="http://schemas.microsoft.com/office/drawing/2014/chart" uri="{C3380CC4-5D6E-409C-BE32-E72D297353CC}">
              <c16:uniqueId val="{00000029-258E-456C-AFAB-258CFD6A3924}"/>
            </c:ext>
          </c:extLst>
        </c:ser>
        <c:ser>
          <c:idx val="42"/>
          <c:order val="42"/>
          <c:tx>
            <c:strRef>
              <c:f>'Order level Analysis'!$AR$5:$AR$6</c:f>
              <c:strCache>
                <c:ptCount val="1"/>
                <c:pt idx="0">
                  <c:v>Marathahalli</c:v>
                </c:pt>
              </c:strCache>
            </c:strRef>
          </c:tx>
          <c:spPr>
            <a:gradFill rotWithShape="1">
              <a:gsLst>
                <a:gs pos="0">
                  <a:schemeClr val="accent1">
                    <a:lumMod val="70000"/>
                    <a:satMod val="103000"/>
                    <a:lumMod val="102000"/>
                    <a:tint val="94000"/>
                  </a:schemeClr>
                </a:gs>
                <a:gs pos="50000">
                  <a:schemeClr val="accent1">
                    <a:lumMod val="70000"/>
                    <a:satMod val="110000"/>
                    <a:lumMod val="100000"/>
                    <a:shade val="100000"/>
                  </a:schemeClr>
                </a:gs>
                <a:gs pos="100000">
                  <a:schemeClr val="accent1">
                    <a:lumMod val="7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Analysis'!$AR$7:$AR$12</c:f>
              <c:numCache>
                <c:formatCode>General</c:formatCode>
                <c:ptCount val="5"/>
                <c:pt idx="1">
                  <c:v>1</c:v>
                </c:pt>
                <c:pt idx="3">
                  <c:v>1</c:v>
                </c:pt>
                <c:pt idx="4">
                  <c:v>1</c:v>
                </c:pt>
              </c:numCache>
            </c:numRef>
          </c:val>
          <c:extLst>
            <c:ext xmlns:c16="http://schemas.microsoft.com/office/drawing/2014/chart" uri="{C3380CC4-5D6E-409C-BE32-E72D297353CC}">
              <c16:uniqueId val="{0000002A-258E-456C-AFAB-258CFD6A3924}"/>
            </c:ext>
          </c:extLst>
        </c:ser>
        <c:ser>
          <c:idx val="43"/>
          <c:order val="43"/>
          <c:tx>
            <c:strRef>
              <c:f>'Order level Analysis'!$AS$5:$AS$6</c:f>
              <c:strCache>
                <c:ptCount val="1"/>
                <c:pt idx="0">
                  <c:v>Pattandur</c:v>
                </c:pt>
              </c:strCache>
            </c:strRef>
          </c:tx>
          <c:spPr>
            <a:gradFill rotWithShape="1">
              <a:gsLst>
                <a:gs pos="0">
                  <a:schemeClr val="accent2">
                    <a:lumMod val="70000"/>
                    <a:satMod val="103000"/>
                    <a:lumMod val="102000"/>
                    <a:tint val="94000"/>
                  </a:schemeClr>
                </a:gs>
                <a:gs pos="50000">
                  <a:schemeClr val="accent2">
                    <a:lumMod val="70000"/>
                    <a:satMod val="110000"/>
                    <a:lumMod val="100000"/>
                    <a:shade val="100000"/>
                  </a:schemeClr>
                </a:gs>
                <a:gs pos="100000">
                  <a:schemeClr val="accent2">
                    <a:lumMod val="7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Analysis'!$AS$7:$AS$12</c:f>
              <c:numCache>
                <c:formatCode>General</c:formatCode>
                <c:ptCount val="5"/>
                <c:pt idx="0">
                  <c:v>1</c:v>
                </c:pt>
              </c:numCache>
            </c:numRef>
          </c:val>
          <c:extLst>
            <c:ext xmlns:c16="http://schemas.microsoft.com/office/drawing/2014/chart" uri="{C3380CC4-5D6E-409C-BE32-E72D297353CC}">
              <c16:uniqueId val="{0000002B-258E-456C-AFAB-258CFD6A3924}"/>
            </c:ext>
          </c:extLst>
        </c:ser>
        <c:ser>
          <c:idx val="44"/>
          <c:order val="44"/>
          <c:tx>
            <c:strRef>
              <c:f>'Order level Analysis'!$AT$5:$AT$6</c:f>
              <c:strCache>
                <c:ptCount val="1"/>
                <c:pt idx="0">
                  <c:v>Richmond Town</c:v>
                </c:pt>
              </c:strCache>
            </c:strRef>
          </c:tx>
          <c:spPr>
            <a:gradFill rotWithShape="1">
              <a:gsLst>
                <a:gs pos="0">
                  <a:schemeClr val="accent3">
                    <a:lumMod val="70000"/>
                    <a:satMod val="103000"/>
                    <a:lumMod val="102000"/>
                    <a:tint val="94000"/>
                  </a:schemeClr>
                </a:gs>
                <a:gs pos="50000">
                  <a:schemeClr val="accent3">
                    <a:lumMod val="70000"/>
                    <a:satMod val="110000"/>
                    <a:lumMod val="100000"/>
                    <a:shade val="100000"/>
                  </a:schemeClr>
                </a:gs>
                <a:gs pos="100000">
                  <a:schemeClr val="accent3">
                    <a:lumMod val="7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Analysis'!$AT$7:$AT$12</c:f>
              <c:numCache>
                <c:formatCode>General</c:formatCode>
                <c:ptCount val="5"/>
                <c:pt idx="0">
                  <c:v>2</c:v>
                </c:pt>
              </c:numCache>
            </c:numRef>
          </c:val>
          <c:extLst>
            <c:ext xmlns:c16="http://schemas.microsoft.com/office/drawing/2014/chart" uri="{C3380CC4-5D6E-409C-BE32-E72D297353CC}">
              <c16:uniqueId val="{0000002C-258E-456C-AFAB-258CFD6A3924}"/>
            </c:ext>
          </c:extLst>
        </c:ser>
        <c:ser>
          <c:idx val="45"/>
          <c:order val="45"/>
          <c:tx>
            <c:strRef>
              <c:f>'Order level Analysis'!$AU$5:$AU$6</c:f>
              <c:strCache>
                <c:ptCount val="1"/>
                <c:pt idx="0">
                  <c:v>Sarjapur Road</c:v>
                </c:pt>
              </c:strCache>
            </c:strRef>
          </c:tx>
          <c:spPr>
            <a:gradFill rotWithShape="1">
              <a:gsLst>
                <a:gs pos="0">
                  <a:schemeClr val="accent4">
                    <a:lumMod val="70000"/>
                    <a:satMod val="103000"/>
                    <a:lumMod val="102000"/>
                    <a:tint val="94000"/>
                  </a:schemeClr>
                </a:gs>
                <a:gs pos="50000">
                  <a:schemeClr val="accent4">
                    <a:lumMod val="70000"/>
                    <a:satMod val="110000"/>
                    <a:lumMod val="100000"/>
                    <a:shade val="100000"/>
                  </a:schemeClr>
                </a:gs>
                <a:gs pos="100000">
                  <a:schemeClr val="accent4">
                    <a:lumMod val="7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Analysis'!$AU$7:$AU$12</c:f>
              <c:numCache>
                <c:formatCode>General</c:formatCode>
                <c:ptCount val="5"/>
                <c:pt idx="0">
                  <c:v>6</c:v>
                </c:pt>
                <c:pt idx="1">
                  <c:v>3</c:v>
                </c:pt>
                <c:pt idx="2">
                  <c:v>1</c:v>
                </c:pt>
                <c:pt idx="4">
                  <c:v>10</c:v>
                </c:pt>
              </c:numCache>
            </c:numRef>
          </c:val>
          <c:extLst>
            <c:ext xmlns:c16="http://schemas.microsoft.com/office/drawing/2014/chart" uri="{C3380CC4-5D6E-409C-BE32-E72D297353CC}">
              <c16:uniqueId val="{0000002D-258E-456C-AFAB-258CFD6A3924}"/>
            </c:ext>
          </c:extLst>
        </c:ser>
        <c:ser>
          <c:idx val="46"/>
          <c:order val="46"/>
          <c:tx>
            <c:strRef>
              <c:f>'Order level Analysis'!$AV$5:$AV$6</c:f>
              <c:strCache>
                <c:ptCount val="1"/>
                <c:pt idx="0">
                  <c:v>Victoria Layout</c:v>
                </c:pt>
              </c:strCache>
            </c:strRef>
          </c:tx>
          <c:spPr>
            <a:gradFill rotWithShape="1">
              <a:gsLst>
                <a:gs pos="0">
                  <a:schemeClr val="accent5">
                    <a:lumMod val="70000"/>
                    <a:satMod val="103000"/>
                    <a:lumMod val="102000"/>
                    <a:tint val="94000"/>
                  </a:schemeClr>
                </a:gs>
                <a:gs pos="50000">
                  <a:schemeClr val="accent5">
                    <a:lumMod val="70000"/>
                    <a:satMod val="110000"/>
                    <a:lumMod val="100000"/>
                    <a:shade val="100000"/>
                  </a:schemeClr>
                </a:gs>
                <a:gs pos="100000">
                  <a:schemeClr val="accent5">
                    <a:lumMod val="7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Analysis'!$AV$7:$AV$12</c:f>
              <c:numCache>
                <c:formatCode>General</c:formatCode>
                <c:ptCount val="5"/>
                <c:pt idx="4">
                  <c:v>1</c:v>
                </c:pt>
              </c:numCache>
            </c:numRef>
          </c:val>
          <c:extLst>
            <c:ext xmlns:c16="http://schemas.microsoft.com/office/drawing/2014/chart" uri="{C3380CC4-5D6E-409C-BE32-E72D297353CC}">
              <c16:uniqueId val="{0000002E-258E-456C-AFAB-258CFD6A3924}"/>
            </c:ext>
          </c:extLst>
        </c:ser>
        <c:ser>
          <c:idx val="47"/>
          <c:order val="47"/>
          <c:tx>
            <c:strRef>
              <c:f>'Order level Analysis'!$AW$5:$AW$6</c:f>
              <c:strCache>
                <c:ptCount val="1"/>
                <c:pt idx="0">
                  <c:v>Vimanapura</c:v>
                </c:pt>
              </c:strCache>
            </c:strRef>
          </c:tx>
          <c:spPr>
            <a:gradFill rotWithShape="1">
              <a:gsLst>
                <a:gs pos="0">
                  <a:schemeClr val="accent6">
                    <a:lumMod val="70000"/>
                    <a:satMod val="103000"/>
                    <a:lumMod val="102000"/>
                    <a:tint val="94000"/>
                  </a:schemeClr>
                </a:gs>
                <a:gs pos="50000">
                  <a:schemeClr val="accent6">
                    <a:lumMod val="70000"/>
                    <a:satMod val="110000"/>
                    <a:lumMod val="100000"/>
                    <a:shade val="100000"/>
                  </a:schemeClr>
                </a:gs>
                <a:gs pos="100000">
                  <a:schemeClr val="accent6">
                    <a:lumMod val="7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Analysis'!$AW$7:$AW$12</c:f>
              <c:numCache>
                <c:formatCode>General</c:formatCode>
                <c:ptCount val="5"/>
                <c:pt idx="0">
                  <c:v>1</c:v>
                </c:pt>
              </c:numCache>
            </c:numRef>
          </c:val>
          <c:extLst>
            <c:ext xmlns:c16="http://schemas.microsoft.com/office/drawing/2014/chart" uri="{C3380CC4-5D6E-409C-BE32-E72D297353CC}">
              <c16:uniqueId val="{0000002F-258E-456C-AFAB-258CFD6A3924}"/>
            </c:ext>
          </c:extLst>
        </c:ser>
        <c:ser>
          <c:idx val="48"/>
          <c:order val="48"/>
          <c:tx>
            <c:strRef>
              <c:f>'Order level Analysis'!$AX$5:$AX$6</c:f>
              <c:strCache>
                <c:ptCount val="1"/>
                <c:pt idx="0">
                  <c:v>Viveka Nagar</c:v>
                </c:pt>
              </c:strCache>
            </c:strRef>
          </c:tx>
          <c:spPr>
            <a:gradFill rotWithShape="1">
              <a:gsLst>
                <a:gs pos="0">
                  <a:schemeClr val="accent1">
                    <a:lumMod val="50000"/>
                    <a:lumOff val="50000"/>
                    <a:satMod val="103000"/>
                    <a:lumMod val="102000"/>
                    <a:tint val="94000"/>
                  </a:schemeClr>
                </a:gs>
                <a:gs pos="50000">
                  <a:schemeClr val="accent1">
                    <a:lumMod val="50000"/>
                    <a:lumOff val="50000"/>
                    <a:satMod val="110000"/>
                    <a:lumMod val="100000"/>
                    <a:shade val="100000"/>
                  </a:schemeClr>
                </a:gs>
                <a:gs pos="100000">
                  <a:schemeClr val="accent1">
                    <a:lumMod val="50000"/>
                    <a:lumOff val="5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Analysis'!$AX$7:$AX$12</c:f>
              <c:numCache>
                <c:formatCode>General</c:formatCode>
                <c:ptCount val="5"/>
                <c:pt idx="0">
                  <c:v>4</c:v>
                </c:pt>
                <c:pt idx="1">
                  <c:v>2</c:v>
                </c:pt>
                <c:pt idx="2">
                  <c:v>1</c:v>
                </c:pt>
              </c:numCache>
            </c:numRef>
          </c:val>
          <c:extLst>
            <c:ext xmlns:c16="http://schemas.microsoft.com/office/drawing/2014/chart" uri="{C3380CC4-5D6E-409C-BE32-E72D297353CC}">
              <c16:uniqueId val="{00000030-258E-456C-AFAB-258CFD6A3924}"/>
            </c:ext>
          </c:extLst>
        </c:ser>
        <c:ser>
          <c:idx val="49"/>
          <c:order val="49"/>
          <c:tx>
            <c:strRef>
              <c:f>'Order level Analysis'!$AY$5:$AY$6</c:f>
              <c:strCache>
                <c:ptCount val="1"/>
                <c:pt idx="0">
                  <c:v>Whitefield</c:v>
                </c:pt>
              </c:strCache>
            </c:strRef>
          </c:tx>
          <c:spPr>
            <a:gradFill rotWithShape="1">
              <a:gsLst>
                <a:gs pos="0">
                  <a:schemeClr val="accent2">
                    <a:lumMod val="50000"/>
                    <a:lumOff val="50000"/>
                    <a:satMod val="103000"/>
                    <a:lumMod val="102000"/>
                    <a:tint val="94000"/>
                  </a:schemeClr>
                </a:gs>
                <a:gs pos="50000">
                  <a:schemeClr val="accent2">
                    <a:lumMod val="50000"/>
                    <a:lumOff val="50000"/>
                    <a:satMod val="110000"/>
                    <a:lumMod val="100000"/>
                    <a:shade val="100000"/>
                  </a:schemeClr>
                </a:gs>
                <a:gs pos="100000">
                  <a:schemeClr val="accent2">
                    <a:lumMod val="50000"/>
                    <a:lumOff val="5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Analysis'!$AY$7:$AY$12</c:f>
              <c:numCache>
                <c:formatCode>General</c:formatCode>
                <c:ptCount val="5"/>
                <c:pt idx="1">
                  <c:v>1</c:v>
                </c:pt>
              </c:numCache>
            </c:numRef>
          </c:val>
          <c:extLst>
            <c:ext xmlns:c16="http://schemas.microsoft.com/office/drawing/2014/chart" uri="{C3380CC4-5D6E-409C-BE32-E72D297353CC}">
              <c16:uniqueId val="{00000031-258E-456C-AFAB-258CFD6A3924}"/>
            </c:ext>
          </c:extLst>
        </c:ser>
        <c:ser>
          <c:idx val="50"/>
          <c:order val="50"/>
          <c:tx>
            <c:strRef>
              <c:f>'Order level Analysis'!$AZ$5:$AZ$6</c:f>
              <c:strCache>
                <c:ptCount val="1"/>
                <c:pt idx="0">
                  <c:v>Wilson Garden, Shantinagar</c:v>
                </c:pt>
              </c:strCache>
            </c:strRef>
          </c:tx>
          <c:spPr>
            <a:gradFill rotWithShape="1">
              <a:gsLst>
                <a:gs pos="0">
                  <a:schemeClr val="accent3">
                    <a:lumMod val="50000"/>
                    <a:lumOff val="50000"/>
                    <a:satMod val="103000"/>
                    <a:lumMod val="102000"/>
                    <a:tint val="94000"/>
                  </a:schemeClr>
                </a:gs>
                <a:gs pos="50000">
                  <a:schemeClr val="accent3">
                    <a:lumMod val="50000"/>
                    <a:lumOff val="50000"/>
                    <a:satMod val="110000"/>
                    <a:lumMod val="100000"/>
                    <a:shade val="100000"/>
                  </a:schemeClr>
                </a:gs>
                <a:gs pos="100000">
                  <a:schemeClr val="accent3">
                    <a:lumMod val="50000"/>
                    <a:lumOff val="5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Analysis'!$AZ$7:$AZ$12</c:f>
              <c:numCache>
                <c:formatCode>General</c:formatCode>
                <c:ptCount val="5"/>
                <c:pt idx="1">
                  <c:v>2</c:v>
                </c:pt>
                <c:pt idx="4">
                  <c:v>2</c:v>
                </c:pt>
              </c:numCache>
            </c:numRef>
          </c:val>
          <c:extLst>
            <c:ext xmlns:c16="http://schemas.microsoft.com/office/drawing/2014/chart" uri="{C3380CC4-5D6E-409C-BE32-E72D297353CC}">
              <c16:uniqueId val="{00000032-258E-456C-AFAB-258CFD6A3924}"/>
            </c:ext>
          </c:extLst>
        </c:ser>
        <c:ser>
          <c:idx val="51"/>
          <c:order val="51"/>
          <c:tx>
            <c:strRef>
              <c:f>'Order level Analysis'!$BA$5:$BA$6</c:f>
              <c:strCache>
                <c:ptCount val="1"/>
                <c:pt idx="0">
                  <c:v>Yemalur</c:v>
                </c:pt>
              </c:strCache>
            </c:strRef>
          </c:tx>
          <c:spPr>
            <a:gradFill rotWithShape="1">
              <a:gsLst>
                <a:gs pos="0">
                  <a:schemeClr val="accent4">
                    <a:lumMod val="50000"/>
                    <a:lumOff val="50000"/>
                    <a:satMod val="103000"/>
                    <a:lumMod val="102000"/>
                    <a:tint val="94000"/>
                  </a:schemeClr>
                </a:gs>
                <a:gs pos="50000">
                  <a:schemeClr val="accent4">
                    <a:lumMod val="50000"/>
                    <a:lumOff val="50000"/>
                    <a:satMod val="110000"/>
                    <a:lumMod val="100000"/>
                    <a:shade val="100000"/>
                  </a:schemeClr>
                </a:gs>
                <a:gs pos="100000">
                  <a:schemeClr val="accent4">
                    <a:lumMod val="50000"/>
                    <a:lumOff val="5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Analysis'!$A$7:$A$12</c:f>
              <c:strCache>
                <c:ptCount val="5"/>
                <c:pt idx="0">
                  <c:v>Afternoon</c:v>
                </c:pt>
                <c:pt idx="1">
                  <c:v>Evening</c:v>
                </c:pt>
                <c:pt idx="2">
                  <c:v>Late Night</c:v>
                </c:pt>
                <c:pt idx="3">
                  <c:v>Morning</c:v>
                </c:pt>
                <c:pt idx="4">
                  <c:v>Night</c:v>
                </c:pt>
              </c:strCache>
            </c:strRef>
          </c:cat>
          <c:val>
            <c:numRef>
              <c:f>'Order level Analysis'!$BA$7:$BA$12</c:f>
              <c:numCache>
                <c:formatCode>General</c:formatCode>
                <c:ptCount val="5"/>
                <c:pt idx="0">
                  <c:v>1</c:v>
                </c:pt>
                <c:pt idx="1">
                  <c:v>4</c:v>
                </c:pt>
                <c:pt idx="3">
                  <c:v>1</c:v>
                </c:pt>
                <c:pt idx="4">
                  <c:v>1</c:v>
                </c:pt>
              </c:numCache>
            </c:numRef>
          </c:val>
          <c:extLst>
            <c:ext xmlns:c16="http://schemas.microsoft.com/office/drawing/2014/chart" uri="{C3380CC4-5D6E-409C-BE32-E72D297353CC}">
              <c16:uniqueId val="{00000033-258E-456C-AFAB-258CFD6A3924}"/>
            </c:ext>
          </c:extLst>
        </c:ser>
        <c:dLbls>
          <c:showLegendKey val="0"/>
          <c:showVal val="0"/>
          <c:showCatName val="0"/>
          <c:showSerName val="0"/>
          <c:showPercent val="0"/>
          <c:showBubbleSize val="0"/>
        </c:dLbls>
        <c:gapWidth val="100"/>
        <c:overlap val="-24"/>
        <c:axId val="1821685135"/>
        <c:axId val="1821684655"/>
      </c:barChart>
      <c:catAx>
        <c:axId val="1821685135"/>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US"/>
                  <a:t>Time</a:t>
                </a:r>
                <a:r>
                  <a:rPr lang="en-US" baseline="0"/>
                  <a:t> slot</a:t>
                </a:r>
                <a:endParaRPr lang="en-US"/>
              </a:p>
            </c:rich>
          </c:tx>
          <c:layout>
            <c:manualLayout>
              <c:xMode val="edge"/>
              <c:yMode val="edge"/>
              <c:x val="0.3683657024274728"/>
              <c:y val="0.91312700495771359"/>
            </c:manualLayout>
          </c:layout>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821684655"/>
        <c:crosses val="autoZero"/>
        <c:auto val="1"/>
        <c:lblAlgn val="ctr"/>
        <c:lblOffset val="100"/>
        <c:noMultiLvlLbl val="0"/>
      </c:catAx>
      <c:valAx>
        <c:axId val="1821684655"/>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US"/>
                  <a:t>Count</a:t>
                </a:r>
                <a:r>
                  <a:rPr lang="en-US" baseline="0"/>
                  <a:t> of order id</a:t>
                </a:r>
                <a:endParaRPr lang="en-US"/>
              </a:p>
            </c:rich>
          </c:tx>
          <c:layout>
            <c:manualLayout>
              <c:xMode val="edge"/>
              <c:yMode val="edge"/>
              <c:x val="1.0626992561105207E-2"/>
              <c:y val="0.28139289880431612"/>
            </c:manualLayout>
          </c:layout>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821685135"/>
        <c:crosses val="autoZero"/>
        <c:crossBetween val="between"/>
      </c:valAx>
      <c:spPr>
        <a:noFill/>
        <a:ln>
          <a:noFill/>
        </a:ln>
        <a:effectLst/>
      </c:spPr>
    </c:plotArea>
    <c:legend>
      <c:legendPos val="r"/>
      <c:layout>
        <c:manualLayout>
          <c:xMode val="edge"/>
          <c:yMode val="edge"/>
          <c:x val="0.71902850879028002"/>
          <c:y val="0.14480785898969983"/>
          <c:w val="0.26217326199609664"/>
          <c:h val="0.7434862997256830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CapstoneTransactionData_.xlsx]Order level Analysis!PivotTable3</c:name>
    <c:fmtId val="13"/>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1" i="0" u="none" strike="noStrike" kern="1200" spc="100" baseline="0">
                <a:solidFill>
                  <a:prstClr val="white">
                    <a:lumMod val="95000"/>
                  </a:prstClr>
                </a:solidFill>
                <a:effectLst>
                  <a:outerShdw blurRad="50800" dist="38100" dir="5400000" algn="t" rotWithShape="0">
                    <a:prstClr val="black">
                      <a:alpha val="40000"/>
                    </a:prstClr>
                  </a:outerShdw>
                </a:effectLst>
                <a:latin typeface="+mn-lt"/>
                <a:ea typeface="+mn-ea"/>
                <a:cs typeface="+mn-cs"/>
              </a:defRPr>
            </a:pPr>
            <a:r>
              <a:rPr lang="en-US" sz="1800" b="1" dirty="0">
                <a:effectLst/>
              </a:rPr>
              <a:t>Time Slot and month level.</a:t>
            </a:r>
            <a:endParaRPr lang="en-US" sz="1600" dirty="0">
              <a:effectLst/>
            </a:endParaRPr>
          </a:p>
          <a:p>
            <a:pPr marL="0" marR="0" lvl="0" indent="0" algn="ctr" defTabSz="914400" rtl="0" eaLnBrk="1" fontAlgn="auto" latinLnBrk="0" hangingPunct="1">
              <a:lnSpc>
                <a:spcPct val="100000"/>
              </a:lnSpc>
              <a:spcBef>
                <a:spcPts val="0"/>
              </a:spcBef>
              <a:spcAft>
                <a:spcPts val="0"/>
              </a:spcAft>
              <a:buClrTx/>
              <a:buSzTx/>
              <a:buFontTx/>
              <a:buNone/>
              <a:tabLst/>
              <a:defRPr sz="1600" b="1" i="0" u="none" strike="noStrike" kern="1200" spc="100" baseline="0">
                <a:solidFill>
                  <a:prstClr val="white">
                    <a:lumMod val="95000"/>
                  </a:prstClr>
                </a:solidFill>
                <a:effectLst>
                  <a:outerShdw blurRad="50800" dist="38100" dir="5400000" algn="t" rotWithShape="0">
                    <a:prstClr val="black">
                      <a:alpha val="40000"/>
                    </a:prstClr>
                  </a:outerShdw>
                </a:effectLst>
                <a:latin typeface="+mn-lt"/>
                <a:ea typeface="+mn-ea"/>
                <a:cs typeface="+mn-cs"/>
              </a:defRPr>
            </a:pPr>
            <a:r>
              <a:rPr lang="en-US" dirty="0"/>
              <a:t> </a:t>
            </a:r>
          </a:p>
        </c:rich>
      </c:tx>
      <c:layout>
        <c:manualLayout>
          <c:xMode val="edge"/>
          <c:yMode val="edge"/>
          <c:x val="0.3261236981634788"/>
          <c:y val="4.5894092811351796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600" b="1" i="0" u="none" strike="noStrike" kern="1200" spc="100" baseline="0">
              <a:solidFill>
                <a:prstClr val="white">
                  <a:lumMod val="95000"/>
                </a:prst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chemeClr val="accent5"/>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w="9525">
              <a:solidFill>
                <a:schemeClr val="accent1">
                  <a:lumMod val="6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w="9525">
              <a:solidFill>
                <a:schemeClr val="accent2">
                  <a:lumMod val="6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w="9525">
              <a:solidFill>
                <a:schemeClr val="accent3">
                  <a:lumMod val="6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7.1660820097732822E-2"/>
          <c:y val="0.18435855561604061"/>
          <c:w val="0.8028836028913201"/>
          <c:h val="0.66213143515590922"/>
        </c:manualLayout>
      </c:layout>
      <c:barChart>
        <c:barDir val="col"/>
        <c:grouping val="clustered"/>
        <c:varyColors val="0"/>
        <c:ser>
          <c:idx val="0"/>
          <c:order val="0"/>
          <c:tx>
            <c:strRef>
              <c:f>'Order level Analysis'!$B$77:$B$78</c:f>
              <c:strCache>
                <c:ptCount val="1"/>
                <c:pt idx="0">
                  <c:v>January</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Analysis'!$A$79:$A$84</c:f>
              <c:strCache>
                <c:ptCount val="5"/>
                <c:pt idx="0">
                  <c:v>Afternoon</c:v>
                </c:pt>
                <c:pt idx="1">
                  <c:v>Evening</c:v>
                </c:pt>
                <c:pt idx="2">
                  <c:v>Late Night</c:v>
                </c:pt>
                <c:pt idx="3">
                  <c:v>Morning</c:v>
                </c:pt>
                <c:pt idx="4">
                  <c:v>Night</c:v>
                </c:pt>
              </c:strCache>
            </c:strRef>
          </c:cat>
          <c:val>
            <c:numRef>
              <c:f>'Order level Analysis'!$B$79:$B$84</c:f>
              <c:numCache>
                <c:formatCode>General</c:formatCode>
                <c:ptCount val="5"/>
                <c:pt idx="0">
                  <c:v>16.911722386862831</c:v>
                </c:pt>
                <c:pt idx="1">
                  <c:v>23.063293773654468</c:v>
                </c:pt>
                <c:pt idx="2">
                  <c:v>23.232103246213555</c:v>
                </c:pt>
                <c:pt idx="3">
                  <c:v>22.391640365236665</c:v>
                </c:pt>
                <c:pt idx="4">
                  <c:v>17.419681237969382</c:v>
                </c:pt>
              </c:numCache>
            </c:numRef>
          </c:val>
          <c:extLst>
            <c:ext xmlns:c16="http://schemas.microsoft.com/office/drawing/2014/chart" uri="{C3380CC4-5D6E-409C-BE32-E72D297353CC}">
              <c16:uniqueId val="{00000000-99ED-42C8-AF6B-CBCD5E70BA42}"/>
            </c:ext>
          </c:extLst>
        </c:ser>
        <c:ser>
          <c:idx val="1"/>
          <c:order val="1"/>
          <c:tx>
            <c:strRef>
              <c:f>'Order level Analysis'!$C$77:$C$78</c:f>
              <c:strCache>
                <c:ptCount val="1"/>
                <c:pt idx="0">
                  <c:v>February</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Analysis'!$A$79:$A$84</c:f>
              <c:strCache>
                <c:ptCount val="5"/>
                <c:pt idx="0">
                  <c:v>Afternoon</c:v>
                </c:pt>
                <c:pt idx="1">
                  <c:v>Evening</c:v>
                </c:pt>
                <c:pt idx="2">
                  <c:v>Late Night</c:v>
                </c:pt>
                <c:pt idx="3">
                  <c:v>Morning</c:v>
                </c:pt>
                <c:pt idx="4">
                  <c:v>Night</c:v>
                </c:pt>
              </c:strCache>
            </c:strRef>
          </c:cat>
          <c:val>
            <c:numRef>
              <c:f>'Order level Analysis'!$C$79:$C$84</c:f>
              <c:numCache>
                <c:formatCode>General</c:formatCode>
                <c:ptCount val="5"/>
                <c:pt idx="0">
                  <c:v>13.819754542858723</c:v>
                </c:pt>
                <c:pt idx="1">
                  <c:v>14.489351653027249</c:v>
                </c:pt>
                <c:pt idx="2">
                  <c:v>25.021147444807468</c:v>
                </c:pt>
                <c:pt idx="3">
                  <c:v>19.318932892058559</c:v>
                </c:pt>
                <c:pt idx="4">
                  <c:v>16.142232112491804</c:v>
                </c:pt>
              </c:numCache>
            </c:numRef>
          </c:val>
          <c:extLst>
            <c:ext xmlns:c16="http://schemas.microsoft.com/office/drawing/2014/chart" uri="{C3380CC4-5D6E-409C-BE32-E72D297353CC}">
              <c16:uniqueId val="{00000001-99ED-42C8-AF6B-CBCD5E70BA42}"/>
            </c:ext>
          </c:extLst>
        </c:ser>
        <c:ser>
          <c:idx val="2"/>
          <c:order val="2"/>
          <c:tx>
            <c:strRef>
              <c:f>'Order level Analysis'!$D$77:$D$78</c:f>
              <c:strCache>
                <c:ptCount val="1"/>
                <c:pt idx="0">
                  <c:v>March</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Analysis'!$A$79:$A$84</c:f>
              <c:strCache>
                <c:ptCount val="5"/>
                <c:pt idx="0">
                  <c:v>Afternoon</c:v>
                </c:pt>
                <c:pt idx="1">
                  <c:v>Evening</c:v>
                </c:pt>
                <c:pt idx="2">
                  <c:v>Late Night</c:v>
                </c:pt>
                <c:pt idx="3">
                  <c:v>Morning</c:v>
                </c:pt>
                <c:pt idx="4">
                  <c:v>Night</c:v>
                </c:pt>
              </c:strCache>
            </c:strRef>
          </c:cat>
          <c:val>
            <c:numRef>
              <c:f>'Order level Analysis'!$D$79:$D$84</c:f>
              <c:numCache>
                <c:formatCode>General</c:formatCode>
                <c:ptCount val="5"/>
                <c:pt idx="0">
                  <c:v>13.580737145847287</c:v>
                </c:pt>
                <c:pt idx="1">
                  <c:v>13.337342671428214</c:v>
                </c:pt>
                <c:pt idx="2">
                  <c:v>23.111755046041363</c:v>
                </c:pt>
                <c:pt idx="3">
                  <c:v>18.383044916619568</c:v>
                </c:pt>
                <c:pt idx="4">
                  <c:v>15.35897736578122</c:v>
                </c:pt>
              </c:numCache>
            </c:numRef>
          </c:val>
          <c:extLst>
            <c:ext xmlns:c16="http://schemas.microsoft.com/office/drawing/2014/chart" uri="{C3380CC4-5D6E-409C-BE32-E72D297353CC}">
              <c16:uniqueId val="{00000002-99ED-42C8-AF6B-CBCD5E70BA42}"/>
            </c:ext>
          </c:extLst>
        </c:ser>
        <c:ser>
          <c:idx val="3"/>
          <c:order val="3"/>
          <c:tx>
            <c:strRef>
              <c:f>'Order level Analysis'!$E$77:$E$78</c:f>
              <c:strCache>
                <c:ptCount val="1"/>
                <c:pt idx="0">
                  <c:v>April</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Analysis'!$A$79:$A$84</c:f>
              <c:strCache>
                <c:ptCount val="5"/>
                <c:pt idx="0">
                  <c:v>Afternoon</c:v>
                </c:pt>
                <c:pt idx="1">
                  <c:v>Evening</c:v>
                </c:pt>
                <c:pt idx="2">
                  <c:v>Late Night</c:v>
                </c:pt>
                <c:pt idx="3">
                  <c:v>Morning</c:v>
                </c:pt>
                <c:pt idx="4">
                  <c:v>Night</c:v>
                </c:pt>
              </c:strCache>
            </c:strRef>
          </c:cat>
          <c:val>
            <c:numRef>
              <c:f>'Order level Analysis'!$E$79:$E$84</c:f>
              <c:numCache>
                <c:formatCode>General</c:formatCode>
                <c:ptCount val="5"/>
                <c:pt idx="0">
                  <c:v>15.414768723428436</c:v>
                </c:pt>
                <c:pt idx="1">
                  <c:v>16.01458526647102</c:v>
                </c:pt>
                <c:pt idx="2">
                  <c:v>23.315595148240856</c:v>
                </c:pt>
                <c:pt idx="3">
                  <c:v>18.434756567232828</c:v>
                </c:pt>
                <c:pt idx="4">
                  <c:v>15.964214152419665</c:v>
                </c:pt>
              </c:numCache>
            </c:numRef>
          </c:val>
          <c:extLst>
            <c:ext xmlns:c16="http://schemas.microsoft.com/office/drawing/2014/chart" uri="{C3380CC4-5D6E-409C-BE32-E72D297353CC}">
              <c16:uniqueId val="{00000003-99ED-42C8-AF6B-CBCD5E70BA42}"/>
            </c:ext>
          </c:extLst>
        </c:ser>
        <c:ser>
          <c:idx val="4"/>
          <c:order val="4"/>
          <c:tx>
            <c:strRef>
              <c:f>'Order level Analysis'!$F$77:$F$78</c:f>
              <c:strCache>
                <c:ptCount val="1"/>
                <c:pt idx="0">
                  <c:v>May</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Analysis'!$A$79:$A$84</c:f>
              <c:strCache>
                <c:ptCount val="5"/>
                <c:pt idx="0">
                  <c:v>Afternoon</c:v>
                </c:pt>
                <c:pt idx="1">
                  <c:v>Evening</c:v>
                </c:pt>
                <c:pt idx="2">
                  <c:v>Late Night</c:v>
                </c:pt>
                <c:pt idx="3">
                  <c:v>Morning</c:v>
                </c:pt>
                <c:pt idx="4">
                  <c:v>Night</c:v>
                </c:pt>
              </c:strCache>
            </c:strRef>
          </c:cat>
          <c:val>
            <c:numRef>
              <c:f>'Order level Analysis'!$F$79:$F$84</c:f>
              <c:numCache>
                <c:formatCode>General</c:formatCode>
                <c:ptCount val="5"/>
                <c:pt idx="0">
                  <c:v>9.6183183156583567</c:v>
                </c:pt>
                <c:pt idx="1">
                  <c:v>10.113382590603297</c:v>
                </c:pt>
                <c:pt idx="2">
                  <c:v>4.1208791208791213</c:v>
                </c:pt>
                <c:pt idx="3">
                  <c:v>11.110600634199963</c:v>
                </c:pt>
                <c:pt idx="4">
                  <c:v>14.439184565766974</c:v>
                </c:pt>
              </c:numCache>
            </c:numRef>
          </c:val>
          <c:extLst>
            <c:ext xmlns:c16="http://schemas.microsoft.com/office/drawing/2014/chart" uri="{C3380CC4-5D6E-409C-BE32-E72D297353CC}">
              <c16:uniqueId val="{00000004-99ED-42C8-AF6B-CBCD5E70BA42}"/>
            </c:ext>
          </c:extLst>
        </c:ser>
        <c:ser>
          <c:idx val="5"/>
          <c:order val="5"/>
          <c:tx>
            <c:strRef>
              <c:f>'Order level Analysis'!$G$77:$G$78</c:f>
              <c:strCache>
                <c:ptCount val="1"/>
                <c:pt idx="0">
                  <c:v>June</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Analysis'!$A$79:$A$84</c:f>
              <c:strCache>
                <c:ptCount val="5"/>
                <c:pt idx="0">
                  <c:v>Afternoon</c:v>
                </c:pt>
                <c:pt idx="1">
                  <c:v>Evening</c:v>
                </c:pt>
                <c:pt idx="2">
                  <c:v>Late Night</c:v>
                </c:pt>
                <c:pt idx="3">
                  <c:v>Morning</c:v>
                </c:pt>
                <c:pt idx="4">
                  <c:v>Night</c:v>
                </c:pt>
              </c:strCache>
            </c:strRef>
          </c:cat>
          <c:val>
            <c:numRef>
              <c:f>'Order level Analysis'!$G$79:$G$84</c:f>
              <c:numCache>
                <c:formatCode>General</c:formatCode>
                <c:ptCount val="5"/>
                <c:pt idx="0">
                  <c:v>10.566362728659669</c:v>
                </c:pt>
                <c:pt idx="1">
                  <c:v>11.664661156164099</c:v>
                </c:pt>
                <c:pt idx="2">
                  <c:v>24.772825638344511</c:v>
                </c:pt>
                <c:pt idx="3">
                  <c:v>10.151226052987246</c:v>
                </c:pt>
                <c:pt idx="4">
                  <c:v>13.061560414813846</c:v>
                </c:pt>
              </c:numCache>
            </c:numRef>
          </c:val>
          <c:extLst>
            <c:ext xmlns:c16="http://schemas.microsoft.com/office/drawing/2014/chart" uri="{C3380CC4-5D6E-409C-BE32-E72D297353CC}">
              <c16:uniqueId val="{00000005-99ED-42C8-AF6B-CBCD5E70BA42}"/>
            </c:ext>
          </c:extLst>
        </c:ser>
        <c:ser>
          <c:idx val="6"/>
          <c:order val="6"/>
          <c:tx>
            <c:strRef>
              <c:f>'Order level Analysis'!$H$77:$H$78</c:f>
              <c:strCache>
                <c:ptCount val="1"/>
                <c:pt idx="0">
                  <c:v>July</c:v>
                </c:pt>
              </c:strCache>
            </c:strRef>
          </c:tx>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Analysis'!$A$79:$A$84</c:f>
              <c:strCache>
                <c:ptCount val="5"/>
                <c:pt idx="0">
                  <c:v>Afternoon</c:v>
                </c:pt>
                <c:pt idx="1">
                  <c:v>Evening</c:v>
                </c:pt>
                <c:pt idx="2">
                  <c:v>Late Night</c:v>
                </c:pt>
                <c:pt idx="3">
                  <c:v>Morning</c:v>
                </c:pt>
                <c:pt idx="4">
                  <c:v>Night</c:v>
                </c:pt>
              </c:strCache>
            </c:strRef>
          </c:cat>
          <c:val>
            <c:numRef>
              <c:f>'Order level Analysis'!$H$79:$H$84</c:f>
              <c:numCache>
                <c:formatCode>General</c:formatCode>
                <c:ptCount val="5"/>
                <c:pt idx="0">
                  <c:v>9.6810883349417143</c:v>
                </c:pt>
                <c:pt idx="1">
                  <c:v>10.61836013448645</c:v>
                </c:pt>
                <c:pt idx="2">
                  <c:v>25.127394823832827</c:v>
                </c:pt>
                <c:pt idx="3">
                  <c:v>11.432341108459669</c:v>
                </c:pt>
                <c:pt idx="4">
                  <c:v>12.953222314475072</c:v>
                </c:pt>
              </c:numCache>
            </c:numRef>
          </c:val>
          <c:extLst>
            <c:ext xmlns:c16="http://schemas.microsoft.com/office/drawing/2014/chart" uri="{C3380CC4-5D6E-409C-BE32-E72D297353CC}">
              <c16:uniqueId val="{00000006-99ED-42C8-AF6B-CBCD5E70BA42}"/>
            </c:ext>
          </c:extLst>
        </c:ser>
        <c:ser>
          <c:idx val="7"/>
          <c:order val="7"/>
          <c:tx>
            <c:strRef>
              <c:f>'Order level Analysis'!$I$77:$I$78</c:f>
              <c:strCache>
                <c:ptCount val="1"/>
                <c:pt idx="0">
                  <c:v>August</c:v>
                </c:pt>
              </c:strCache>
            </c:strRef>
          </c:tx>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Analysis'!$A$79:$A$84</c:f>
              <c:strCache>
                <c:ptCount val="5"/>
                <c:pt idx="0">
                  <c:v>Afternoon</c:v>
                </c:pt>
                <c:pt idx="1">
                  <c:v>Evening</c:v>
                </c:pt>
                <c:pt idx="2">
                  <c:v>Late Night</c:v>
                </c:pt>
                <c:pt idx="3">
                  <c:v>Morning</c:v>
                </c:pt>
                <c:pt idx="4">
                  <c:v>Night</c:v>
                </c:pt>
              </c:strCache>
            </c:strRef>
          </c:cat>
          <c:val>
            <c:numRef>
              <c:f>'Order level Analysis'!$I$79:$I$84</c:f>
              <c:numCache>
                <c:formatCode>General</c:formatCode>
                <c:ptCount val="5"/>
                <c:pt idx="0">
                  <c:v>5.6900351962350815</c:v>
                </c:pt>
                <c:pt idx="1">
                  <c:v>5.2936370492182716</c:v>
                </c:pt>
                <c:pt idx="2">
                  <c:v>15.285184931293438</c:v>
                </c:pt>
                <c:pt idx="3">
                  <c:v>6.8716342919340638</c:v>
                </c:pt>
                <c:pt idx="4">
                  <c:v>5.8688741187684714</c:v>
                </c:pt>
              </c:numCache>
            </c:numRef>
          </c:val>
          <c:extLst>
            <c:ext xmlns:c16="http://schemas.microsoft.com/office/drawing/2014/chart" uri="{C3380CC4-5D6E-409C-BE32-E72D297353CC}">
              <c16:uniqueId val="{00000007-99ED-42C8-AF6B-CBCD5E70BA42}"/>
            </c:ext>
          </c:extLst>
        </c:ser>
        <c:ser>
          <c:idx val="8"/>
          <c:order val="8"/>
          <c:tx>
            <c:strRef>
              <c:f>'Order level Analysis'!$J$77:$J$78</c:f>
              <c:strCache>
                <c:ptCount val="1"/>
                <c:pt idx="0">
                  <c:v>September</c:v>
                </c:pt>
              </c:strCache>
            </c:strRef>
          </c:tx>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Analysis'!$A$79:$A$84</c:f>
              <c:strCache>
                <c:ptCount val="5"/>
                <c:pt idx="0">
                  <c:v>Afternoon</c:v>
                </c:pt>
                <c:pt idx="1">
                  <c:v>Evening</c:v>
                </c:pt>
                <c:pt idx="2">
                  <c:v>Late Night</c:v>
                </c:pt>
                <c:pt idx="3">
                  <c:v>Morning</c:v>
                </c:pt>
                <c:pt idx="4">
                  <c:v>Night</c:v>
                </c:pt>
              </c:strCache>
            </c:strRef>
          </c:cat>
          <c:val>
            <c:numRef>
              <c:f>'Order level Analysis'!$J$79:$J$84</c:f>
              <c:numCache>
                <c:formatCode>General</c:formatCode>
                <c:ptCount val="5"/>
                <c:pt idx="0">
                  <c:v>4.1480806607030791</c:v>
                </c:pt>
                <c:pt idx="1">
                  <c:v>3.7320218691455116</c:v>
                </c:pt>
                <c:pt idx="2">
                  <c:v>9.0895409267433891</c:v>
                </c:pt>
                <c:pt idx="3">
                  <c:v>4.9447103353239532</c:v>
                </c:pt>
                <c:pt idx="4">
                  <c:v>4.2947228432109004</c:v>
                </c:pt>
              </c:numCache>
            </c:numRef>
          </c:val>
          <c:extLst>
            <c:ext xmlns:c16="http://schemas.microsoft.com/office/drawing/2014/chart" uri="{C3380CC4-5D6E-409C-BE32-E72D297353CC}">
              <c16:uniqueId val="{00000008-99ED-42C8-AF6B-CBCD5E70BA42}"/>
            </c:ext>
          </c:extLst>
        </c:ser>
        <c:dLbls>
          <c:showLegendKey val="0"/>
          <c:showVal val="0"/>
          <c:showCatName val="0"/>
          <c:showSerName val="0"/>
          <c:showPercent val="0"/>
          <c:showBubbleSize val="0"/>
        </c:dLbls>
        <c:gapWidth val="100"/>
        <c:overlap val="-24"/>
        <c:axId val="661939727"/>
        <c:axId val="661924847"/>
      </c:barChart>
      <c:catAx>
        <c:axId val="661939727"/>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US"/>
                  <a:t>Time Slot</a:t>
                </a:r>
              </a:p>
            </c:rich>
          </c:tx>
          <c:layout>
            <c:manualLayout>
              <c:xMode val="edge"/>
              <c:yMode val="edge"/>
              <c:x val="0.42472165191415417"/>
              <c:y val="0.93185621265752605"/>
            </c:manualLayout>
          </c:layout>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61924847"/>
        <c:crosses val="autoZero"/>
        <c:auto val="1"/>
        <c:lblAlgn val="ctr"/>
        <c:lblOffset val="100"/>
        <c:noMultiLvlLbl val="0"/>
      </c:catAx>
      <c:valAx>
        <c:axId val="661924847"/>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US"/>
                  <a:t>Delivery charges</a:t>
                </a:r>
              </a:p>
            </c:rich>
          </c:tx>
          <c:layout>
            <c:manualLayout>
              <c:xMode val="edge"/>
              <c:yMode val="edge"/>
              <c:x val="1.1928117927943576E-2"/>
              <c:y val="0.35072284475854515"/>
            </c:manualLayout>
          </c:layout>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61939727"/>
        <c:crosses val="autoZero"/>
        <c:crossBetween val="between"/>
      </c:valAx>
      <c:spPr>
        <a:noFill/>
        <a:ln>
          <a:noFill/>
        </a:ln>
        <a:effectLst/>
      </c:spPr>
    </c:plotArea>
    <c:legend>
      <c:legendPos val="r"/>
      <c:layout>
        <c:manualLayout>
          <c:xMode val="edge"/>
          <c:yMode val="edge"/>
          <c:x val="0.86891239121425612"/>
          <c:y val="0.17410391530516048"/>
          <c:w val="0.11845602983837547"/>
          <c:h val="0.6540743453579930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CapstoneTransactionData_.xlsx]Order level Analysis!PivotTable4</c:name>
    <c:fmtId val="26"/>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Discount</a:t>
            </a:r>
          </a:p>
        </c:rich>
      </c:tx>
      <c:layout>
        <c:manualLayout>
          <c:xMode val="edge"/>
          <c:yMode val="edge"/>
          <c:x val="0.44289295404317136"/>
          <c:y val="2.4911756720065171E-2"/>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chemeClr val="accent5"/>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w="9525">
              <a:solidFill>
                <a:schemeClr val="accent1">
                  <a:lumMod val="6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rgbClr val="FF0000"/>
          </a:soli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w="9525">
              <a:solidFill>
                <a:schemeClr val="accent2">
                  <a:lumMod val="6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rgbClr val="7030A0"/>
          </a:soli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w="9525">
              <a:solidFill>
                <a:schemeClr val="accent3">
                  <a:lumMod val="60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rgbClr val="FF0000"/>
          </a:soli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rgbClr val="7030A0"/>
          </a:soli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rgbClr val="FF0000"/>
          </a:soli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rgbClr val="7030A0"/>
          </a:soli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0054535109799161E-2"/>
          <c:y val="0.13267037740972035"/>
          <c:w val="0.71946930513213181"/>
          <c:h val="0.68208050502307904"/>
        </c:manualLayout>
      </c:layout>
      <c:barChart>
        <c:barDir val="col"/>
        <c:grouping val="clustered"/>
        <c:varyColors val="0"/>
        <c:ser>
          <c:idx val="0"/>
          <c:order val="0"/>
          <c:tx>
            <c:strRef>
              <c:f>'Order level Analysis'!$B$91:$B$92</c:f>
              <c:strCache>
                <c:ptCount val="1"/>
                <c:pt idx="0">
                  <c:v>January</c:v>
                </c:pt>
              </c:strCache>
            </c:strRef>
          </c:tx>
          <c:spPr>
            <a:solidFill>
              <a:srgbClr val="00B0F0"/>
            </a:soli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Analysis'!$A$93:$A$98</c:f>
              <c:strCache>
                <c:ptCount val="5"/>
                <c:pt idx="0">
                  <c:v>Afternoon</c:v>
                </c:pt>
                <c:pt idx="1">
                  <c:v>Evening</c:v>
                </c:pt>
                <c:pt idx="2">
                  <c:v>Late Night</c:v>
                </c:pt>
                <c:pt idx="3">
                  <c:v>Morning</c:v>
                </c:pt>
                <c:pt idx="4">
                  <c:v>Night</c:v>
                </c:pt>
              </c:strCache>
            </c:strRef>
          </c:cat>
          <c:val>
            <c:numRef>
              <c:f>'Order level Analysis'!$B$93:$B$98</c:f>
              <c:numCache>
                <c:formatCode>General</c:formatCode>
                <c:ptCount val="5"/>
                <c:pt idx="0">
                  <c:v>0.88888320627560236</c:v>
                </c:pt>
                <c:pt idx="1">
                  <c:v>1.2324307726920001</c:v>
                </c:pt>
                <c:pt idx="2">
                  <c:v>0.77120581334911509</c:v>
                </c:pt>
                <c:pt idx="3">
                  <c:v>1.1837287938383345</c:v>
                </c:pt>
                <c:pt idx="4">
                  <c:v>1.0648239807474238</c:v>
                </c:pt>
              </c:numCache>
            </c:numRef>
          </c:val>
          <c:extLst>
            <c:ext xmlns:c16="http://schemas.microsoft.com/office/drawing/2014/chart" uri="{C3380CC4-5D6E-409C-BE32-E72D297353CC}">
              <c16:uniqueId val="{00000000-838D-4FF3-B4E8-133785825DD6}"/>
            </c:ext>
          </c:extLst>
        </c:ser>
        <c:ser>
          <c:idx val="1"/>
          <c:order val="1"/>
          <c:tx>
            <c:strRef>
              <c:f>'Order level Analysis'!$C$91:$C$92</c:f>
              <c:strCache>
                <c:ptCount val="1"/>
                <c:pt idx="0">
                  <c:v>February</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Analysis'!$A$93:$A$98</c:f>
              <c:strCache>
                <c:ptCount val="5"/>
                <c:pt idx="0">
                  <c:v>Afternoon</c:v>
                </c:pt>
                <c:pt idx="1">
                  <c:v>Evening</c:v>
                </c:pt>
                <c:pt idx="2">
                  <c:v>Late Night</c:v>
                </c:pt>
                <c:pt idx="3">
                  <c:v>Morning</c:v>
                </c:pt>
                <c:pt idx="4">
                  <c:v>Night</c:v>
                </c:pt>
              </c:strCache>
            </c:strRef>
          </c:cat>
          <c:val>
            <c:numRef>
              <c:f>'Order level Analysis'!$C$93:$C$98</c:f>
              <c:numCache>
                <c:formatCode>General</c:formatCode>
                <c:ptCount val="5"/>
                <c:pt idx="0">
                  <c:v>0.41747333147760723</c:v>
                </c:pt>
                <c:pt idx="1">
                  <c:v>0.4089519160010226</c:v>
                </c:pt>
                <c:pt idx="2">
                  <c:v>0.41094009015941763</c:v>
                </c:pt>
                <c:pt idx="3">
                  <c:v>0.59044799319796848</c:v>
                </c:pt>
                <c:pt idx="4">
                  <c:v>0.60950166262937189</c:v>
                </c:pt>
              </c:numCache>
            </c:numRef>
          </c:val>
          <c:extLst>
            <c:ext xmlns:c16="http://schemas.microsoft.com/office/drawing/2014/chart" uri="{C3380CC4-5D6E-409C-BE32-E72D297353CC}">
              <c16:uniqueId val="{00000001-838D-4FF3-B4E8-133785825DD6}"/>
            </c:ext>
          </c:extLst>
        </c:ser>
        <c:ser>
          <c:idx val="2"/>
          <c:order val="2"/>
          <c:tx>
            <c:strRef>
              <c:f>'Order level Analysis'!$D$91:$D$92</c:f>
              <c:strCache>
                <c:ptCount val="1"/>
                <c:pt idx="0">
                  <c:v>March</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Analysis'!$A$93:$A$98</c:f>
              <c:strCache>
                <c:ptCount val="5"/>
                <c:pt idx="0">
                  <c:v>Afternoon</c:v>
                </c:pt>
                <c:pt idx="1">
                  <c:v>Evening</c:v>
                </c:pt>
                <c:pt idx="2">
                  <c:v>Late Night</c:v>
                </c:pt>
                <c:pt idx="3">
                  <c:v>Morning</c:v>
                </c:pt>
                <c:pt idx="4">
                  <c:v>Night</c:v>
                </c:pt>
              </c:strCache>
            </c:strRef>
          </c:cat>
          <c:val>
            <c:numRef>
              <c:f>'Order level Analysis'!$D$93:$D$98</c:f>
              <c:numCache>
                <c:formatCode>General</c:formatCode>
                <c:ptCount val="5"/>
                <c:pt idx="0">
                  <c:v>0.83338734451751273</c:v>
                </c:pt>
                <c:pt idx="1">
                  <c:v>0.72878544893461672</c:v>
                </c:pt>
                <c:pt idx="2">
                  <c:v>0.60564619928612085</c:v>
                </c:pt>
                <c:pt idx="3">
                  <c:v>0.43007868556327916</c:v>
                </c:pt>
                <c:pt idx="4">
                  <c:v>0.55230198400876651</c:v>
                </c:pt>
              </c:numCache>
            </c:numRef>
          </c:val>
          <c:extLst>
            <c:ext xmlns:c16="http://schemas.microsoft.com/office/drawing/2014/chart" uri="{C3380CC4-5D6E-409C-BE32-E72D297353CC}">
              <c16:uniqueId val="{00000002-838D-4FF3-B4E8-133785825DD6}"/>
            </c:ext>
          </c:extLst>
        </c:ser>
        <c:ser>
          <c:idx val="3"/>
          <c:order val="3"/>
          <c:tx>
            <c:strRef>
              <c:f>'Order level Analysis'!$E$91:$E$92</c:f>
              <c:strCache>
                <c:ptCount val="1"/>
                <c:pt idx="0">
                  <c:v>April</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Analysis'!$A$93:$A$98</c:f>
              <c:strCache>
                <c:ptCount val="5"/>
                <c:pt idx="0">
                  <c:v>Afternoon</c:v>
                </c:pt>
                <c:pt idx="1">
                  <c:v>Evening</c:v>
                </c:pt>
                <c:pt idx="2">
                  <c:v>Late Night</c:v>
                </c:pt>
                <c:pt idx="3">
                  <c:v>Morning</c:v>
                </c:pt>
                <c:pt idx="4">
                  <c:v>Night</c:v>
                </c:pt>
              </c:strCache>
            </c:strRef>
          </c:cat>
          <c:val>
            <c:numRef>
              <c:f>'Order level Analysis'!$E$93:$E$98</c:f>
              <c:numCache>
                <c:formatCode>General</c:formatCode>
                <c:ptCount val="5"/>
                <c:pt idx="0">
                  <c:v>1.590135161424767</c:v>
                </c:pt>
                <c:pt idx="1">
                  <c:v>0.6592730821849796</c:v>
                </c:pt>
                <c:pt idx="2">
                  <c:v>0.5733166341274013</c:v>
                </c:pt>
                <c:pt idx="3">
                  <c:v>0.87944267073150217</c:v>
                </c:pt>
                <c:pt idx="4">
                  <c:v>1.2352816717146866</c:v>
                </c:pt>
              </c:numCache>
            </c:numRef>
          </c:val>
          <c:extLst>
            <c:ext xmlns:c16="http://schemas.microsoft.com/office/drawing/2014/chart" uri="{C3380CC4-5D6E-409C-BE32-E72D297353CC}">
              <c16:uniqueId val="{00000003-838D-4FF3-B4E8-133785825DD6}"/>
            </c:ext>
          </c:extLst>
        </c:ser>
        <c:ser>
          <c:idx val="4"/>
          <c:order val="4"/>
          <c:tx>
            <c:strRef>
              <c:f>'Order level Analysis'!$F$91:$F$92</c:f>
              <c:strCache>
                <c:ptCount val="1"/>
                <c:pt idx="0">
                  <c:v>May</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Analysis'!$A$93:$A$98</c:f>
              <c:strCache>
                <c:ptCount val="5"/>
                <c:pt idx="0">
                  <c:v>Afternoon</c:v>
                </c:pt>
                <c:pt idx="1">
                  <c:v>Evening</c:v>
                </c:pt>
                <c:pt idx="2">
                  <c:v>Late Night</c:v>
                </c:pt>
                <c:pt idx="3">
                  <c:v>Morning</c:v>
                </c:pt>
                <c:pt idx="4">
                  <c:v>Night</c:v>
                </c:pt>
              </c:strCache>
            </c:strRef>
          </c:cat>
          <c:val>
            <c:numRef>
              <c:f>'Order level Analysis'!$F$93:$F$98</c:f>
              <c:numCache>
                <c:formatCode>General</c:formatCode>
                <c:ptCount val="5"/>
                <c:pt idx="0">
                  <c:v>6.606651500307092</c:v>
                </c:pt>
                <c:pt idx="1">
                  <c:v>5.2966299285781728</c:v>
                </c:pt>
                <c:pt idx="2">
                  <c:v>5.1224944320712691</c:v>
                </c:pt>
                <c:pt idx="3">
                  <c:v>4.9002618396277464</c:v>
                </c:pt>
                <c:pt idx="4">
                  <c:v>6.0846025110749178</c:v>
                </c:pt>
              </c:numCache>
            </c:numRef>
          </c:val>
          <c:extLst>
            <c:ext xmlns:c16="http://schemas.microsoft.com/office/drawing/2014/chart" uri="{C3380CC4-5D6E-409C-BE32-E72D297353CC}">
              <c16:uniqueId val="{00000004-838D-4FF3-B4E8-133785825DD6}"/>
            </c:ext>
          </c:extLst>
        </c:ser>
        <c:ser>
          <c:idx val="5"/>
          <c:order val="5"/>
          <c:tx>
            <c:strRef>
              <c:f>'Order level Analysis'!$G$91:$G$92</c:f>
              <c:strCache>
                <c:ptCount val="1"/>
                <c:pt idx="0">
                  <c:v>June</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Analysis'!$A$93:$A$98</c:f>
              <c:strCache>
                <c:ptCount val="5"/>
                <c:pt idx="0">
                  <c:v>Afternoon</c:v>
                </c:pt>
                <c:pt idx="1">
                  <c:v>Evening</c:v>
                </c:pt>
                <c:pt idx="2">
                  <c:v>Late Night</c:v>
                </c:pt>
                <c:pt idx="3">
                  <c:v>Morning</c:v>
                </c:pt>
                <c:pt idx="4">
                  <c:v>Night</c:v>
                </c:pt>
              </c:strCache>
            </c:strRef>
          </c:cat>
          <c:val>
            <c:numRef>
              <c:f>'Order level Analysis'!$G$93:$G$98</c:f>
              <c:numCache>
                <c:formatCode>General</c:formatCode>
                <c:ptCount val="5"/>
                <c:pt idx="0">
                  <c:v>3.27582836893616</c:v>
                </c:pt>
                <c:pt idx="1">
                  <c:v>3.2883014017401213</c:v>
                </c:pt>
                <c:pt idx="2">
                  <c:v>4.2263895821647619</c:v>
                </c:pt>
                <c:pt idx="3">
                  <c:v>2.9867825401784796</c:v>
                </c:pt>
                <c:pt idx="4">
                  <c:v>3.0864713737891543</c:v>
                </c:pt>
              </c:numCache>
            </c:numRef>
          </c:val>
          <c:extLst>
            <c:ext xmlns:c16="http://schemas.microsoft.com/office/drawing/2014/chart" uri="{C3380CC4-5D6E-409C-BE32-E72D297353CC}">
              <c16:uniqueId val="{00000005-838D-4FF3-B4E8-133785825DD6}"/>
            </c:ext>
          </c:extLst>
        </c:ser>
        <c:ser>
          <c:idx val="6"/>
          <c:order val="6"/>
          <c:tx>
            <c:strRef>
              <c:f>'Order level Analysis'!$H$91:$H$92</c:f>
              <c:strCache>
                <c:ptCount val="1"/>
                <c:pt idx="0">
                  <c:v>July</c:v>
                </c:pt>
              </c:strCache>
            </c:strRef>
          </c:tx>
          <c:spPr>
            <a:solidFill>
              <a:schemeClr val="accent2">
                <a:lumMod val="20000"/>
                <a:lumOff val="80000"/>
              </a:schemeClr>
            </a:soli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Analysis'!$A$93:$A$98</c:f>
              <c:strCache>
                <c:ptCount val="5"/>
                <c:pt idx="0">
                  <c:v>Afternoon</c:v>
                </c:pt>
                <c:pt idx="1">
                  <c:v>Evening</c:v>
                </c:pt>
                <c:pt idx="2">
                  <c:v>Late Night</c:v>
                </c:pt>
                <c:pt idx="3">
                  <c:v>Morning</c:v>
                </c:pt>
                <c:pt idx="4">
                  <c:v>Night</c:v>
                </c:pt>
              </c:strCache>
            </c:strRef>
          </c:cat>
          <c:val>
            <c:numRef>
              <c:f>'Order level Analysis'!$H$93:$H$98</c:f>
              <c:numCache>
                <c:formatCode>General</c:formatCode>
                <c:ptCount val="5"/>
                <c:pt idx="0">
                  <c:v>6.1238102125287535</c:v>
                </c:pt>
                <c:pt idx="1">
                  <c:v>7.1182356902027539</c:v>
                </c:pt>
                <c:pt idx="2">
                  <c:v>3.8629422330570509</c:v>
                </c:pt>
                <c:pt idx="3">
                  <c:v>5.8330284035797773</c:v>
                </c:pt>
                <c:pt idx="4">
                  <c:v>8.5475021282952817</c:v>
                </c:pt>
              </c:numCache>
            </c:numRef>
          </c:val>
          <c:extLst>
            <c:ext xmlns:c16="http://schemas.microsoft.com/office/drawing/2014/chart" uri="{C3380CC4-5D6E-409C-BE32-E72D297353CC}">
              <c16:uniqueId val="{00000006-838D-4FF3-B4E8-133785825DD6}"/>
            </c:ext>
          </c:extLst>
        </c:ser>
        <c:ser>
          <c:idx val="7"/>
          <c:order val="7"/>
          <c:tx>
            <c:strRef>
              <c:f>'Order level Analysis'!$I$91:$I$92</c:f>
              <c:strCache>
                <c:ptCount val="1"/>
                <c:pt idx="0">
                  <c:v>August</c:v>
                </c:pt>
              </c:strCache>
            </c:strRef>
          </c:tx>
          <c:spPr>
            <a:solidFill>
              <a:srgbClr val="92D050"/>
            </a:soli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Analysis'!$A$93:$A$98</c:f>
              <c:strCache>
                <c:ptCount val="5"/>
                <c:pt idx="0">
                  <c:v>Afternoon</c:v>
                </c:pt>
                <c:pt idx="1">
                  <c:v>Evening</c:v>
                </c:pt>
                <c:pt idx="2">
                  <c:v>Late Night</c:v>
                </c:pt>
                <c:pt idx="3">
                  <c:v>Morning</c:v>
                </c:pt>
                <c:pt idx="4">
                  <c:v>Night</c:v>
                </c:pt>
              </c:strCache>
            </c:strRef>
          </c:cat>
          <c:val>
            <c:numRef>
              <c:f>'Order level Analysis'!$I$93:$I$98</c:f>
              <c:numCache>
                <c:formatCode>General</c:formatCode>
                <c:ptCount val="5"/>
                <c:pt idx="0">
                  <c:v>20.485775392275873</c:v>
                </c:pt>
                <c:pt idx="1">
                  <c:v>19.041866720324744</c:v>
                </c:pt>
                <c:pt idx="2">
                  <c:v>9.679435079326181</c:v>
                </c:pt>
                <c:pt idx="3">
                  <c:v>19.992720164312498</c:v>
                </c:pt>
                <c:pt idx="4">
                  <c:v>21.020952627432198</c:v>
                </c:pt>
              </c:numCache>
            </c:numRef>
          </c:val>
          <c:extLst>
            <c:ext xmlns:c16="http://schemas.microsoft.com/office/drawing/2014/chart" uri="{C3380CC4-5D6E-409C-BE32-E72D297353CC}">
              <c16:uniqueId val="{00000007-838D-4FF3-B4E8-133785825DD6}"/>
            </c:ext>
          </c:extLst>
        </c:ser>
        <c:ser>
          <c:idx val="8"/>
          <c:order val="8"/>
          <c:tx>
            <c:strRef>
              <c:f>'Order level Analysis'!$J$91:$J$92</c:f>
              <c:strCache>
                <c:ptCount val="1"/>
                <c:pt idx="0">
                  <c:v>September</c:v>
                </c:pt>
              </c:strCache>
            </c:strRef>
          </c:tx>
          <c:spPr>
            <a:solidFill>
              <a:srgbClr val="7030A0"/>
            </a:soli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'Order level Analysis'!$A$93:$A$98</c:f>
              <c:strCache>
                <c:ptCount val="5"/>
                <c:pt idx="0">
                  <c:v>Afternoon</c:v>
                </c:pt>
                <c:pt idx="1">
                  <c:v>Evening</c:v>
                </c:pt>
                <c:pt idx="2">
                  <c:v>Late Night</c:v>
                </c:pt>
                <c:pt idx="3">
                  <c:v>Morning</c:v>
                </c:pt>
                <c:pt idx="4">
                  <c:v>Night</c:v>
                </c:pt>
              </c:strCache>
            </c:strRef>
          </c:cat>
          <c:val>
            <c:numRef>
              <c:f>'Order level Analysis'!$J$93:$J$98</c:f>
              <c:numCache>
                <c:formatCode>General</c:formatCode>
                <c:ptCount val="5"/>
                <c:pt idx="0">
                  <c:v>10.727328110434287</c:v>
                </c:pt>
                <c:pt idx="1">
                  <c:v>10.908382216183243</c:v>
                </c:pt>
                <c:pt idx="2">
                  <c:v>5.321474485611934</c:v>
                </c:pt>
                <c:pt idx="3">
                  <c:v>10.810095028627906</c:v>
                </c:pt>
                <c:pt idx="4">
                  <c:v>10.051703557557852</c:v>
                </c:pt>
              </c:numCache>
            </c:numRef>
          </c:val>
          <c:extLst>
            <c:ext xmlns:c16="http://schemas.microsoft.com/office/drawing/2014/chart" uri="{C3380CC4-5D6E-409C-BE32-E72D297353CC}">
              <c16:uniqueId val="{00000008-838D-4FF3-B4E8-133785825DD6}"/>
            </c:ext>
          </c:extLst>
        </c:ser>
        <c:dLbls>
          <c:showLegendKey val="0"/>
          <c:showVal val="0"/>
          <c:showCatName val="0"/>
          <c:showSerName val="0"/>
          <c:showPercent val="0"/>
          <c:showBubbleSize val="0"/>
        </c:dLbls>
        <c:gapWidth val="100"/>
        <c:overlap val="-24"/>
        <c:axId val="586757983"/>
        <c:axId val="586759423"/>
      </c:barChart>
      <c:catAx>
        <c:axId val="586757983"/>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US"/>
                  <a:t>Time Slot</a:t>
                </a:r>
              </a:p>
            </c:rich>
          </c:tx>
          <c:layout>
            <c:manualLayout>
              <c:xMode val="edge"/>
              <c:yMode val="edge"/>
              <c:x val="0.40482239642264128"/>
              <c:y val="0.91043307086614178"/>
            </c:manualLayout>
          </c:layout>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86759423"/>
        <c:crosses val="autoZero"/>
        <c:auto val="1"/>
        <c:lblAlgn val="ctr"/>
        <c:lblOffset val="100"/>
        <c:noMultiLvlLbl val="0"/>
      </c:catAx>
      <c:valAx>
        <c:axId val="586759423"/>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US"/>
                  <a:t> Discount %</a:t>
                </a:r>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86757983"/>
        <c:crosses val="autoZero"/>
        <c:crossBetween val="between"/>
      </c:valAx>
      <c:spPr>
        <a:noFill/>
        <a:ln>
          <a:noFill/>
        </a:ln>
        <a:effectLst/>
      </c:spPr>
    </c:plotArea>
    <c:legend>
      <c:legendPos val="r"/>
      <c:layout>
        <c:manualLayout>
          <c:xMode val="edge"/>
          <c:yMode val="edge"/>
          <c:x val="0.82062212858519645"/>
          <c:y val="0.13689281835460224"/>
          <c:w val="0.17499999999999999"/>
          <c:h val="0.6650710848643919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CapstoneTransactionData_.xlsx]Completion Rate Analysis !PivotTable7</c:name>
    <c:fmtId val="11"/>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Slot vs Day </a:t>
            </a:r>
          </a:p>
        </c:rich>
      </c:tx>
      <c:layout>
        <c:manualLayout>
          <c:xMode val="edge"/>
          <c:yMode val="edge"/>
          <c:x val="0.42491032014146685"/>
          <c:y val="3.5442038993417399E-2"/>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dLbl>
          <c:idx val="0"/>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dLbl>
          <c:idx val="0"/>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chemeClr val="accent5"/>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0906303922450152E-2"/>
          <c:y val="0.18163793876562695"/>
          <c:w val="0.70898494131952916"/>
          <c:h val="0.62256344950047526"/>
        </c:manualLayout>
      </c:layout>
      <c:barChart>
        <c:barDir val="col"/>
        <c:grouping val="clustered"/>
        <c:varyColors val="0"/>
        <c:ser>
          <c:idx val="0"/>
          <c:order val="0"/>
          <c:tx>
            <c:strRef>
              <c:f>'Completion Rate Analysis '!$B$6:$B$8</c:f>
              <c:strCache>
                <c:ptCount val="1"/>
                <c:pt idx="0">
                  <c:v>Afternoon - YES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'Completion Rate Analysis '!$A$9:$A$16</c:f>
              <c:strCache>
                <c:ptCount val="7"/>
                <c:pt idx="0">
                  <c:v>Sunday</c:v>
                </c:pt>
                <c:pt idx="1">
                  <c:v>Monday</c:v>
                </c:pt>
                <c:pt idx="2">
                  <c:v>Tuesday</c:v>
                </c:pt>
                <c:pt idx="3">
                  <c:v>Wednesday</c:v>
                </c:pt>
                <c:pt idx="4">
                  <c:v>Thursday</c:v>
                </c:pt>
                <c:pt idx="5">
                  <c:v>Friday</c:v>
                </c:pt>
                <c:pt idx="6">
                  <c:v>Saturday</c:v>
                </c:pt>
              </c:strCache>
            </c:strRef>
          </c:cat>
          <c:val>
            <c:numRef>
              <c:f>'Completion Rate Analysis '!$B$9:$B$16</c:f>
              <c:numCache>
                <c:formatCode>0.00%</c:formatCode>
                <c:ptCount val="7"/>
                <c:pt idx="0">
                  <c:v>0.27466590844469718</c:v>
                </c:pt>
                <c:pt idx="1">
                  <c:v>0.25162972620599738</c:v>
                </c:pt>
                <c:pt idx="2">
                  <c:v>0.24837451235370611</c:v>
                </c:pt>
                <c:pt idx="3">
                  <c:v>0.26609305289993629</c:v>
                </c:pt>
                <c:pt idx="4">
                  <c:v>0.24815043156596794</c:v>
                </c:pt>
                <c:pt idx="5">
                  <c:v>0.26142208774583964</c:v>
                </c:pt>
                <c:pt idx="6">
                  <c:v>0.26771420100800475</c:v>
                </c:pt>
              </c:numCache>
            </c:numRef>
          </c:val>
          <c:extLst>
            <c:ext xmlns:c16="http://schemas.microsoft.com/office/drawing/2014/chart" uri="{C3380CC4-5D6E-409C-BE32-E72D297353CC}">
              <c16:uniqueId val="{00000000-ABD9-4E06-BDB8-BA5A7D933638}"/>
            </c:ext>
          </c:extLst>
        </c:ser>
        <c:ser>
          <c:idx val="1"/>
          <c:order val="1"/>
          <c:tx>
            <c:strRef>
              <c:f>'Completion Rate Analysis '!$D$6:$D$8</c:f>
              <c:strCache>
                <c:ptCount val="1"/>
                <c:pt idx="0">
                  <c:v>Evening - YES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'Completion Rate Analysis '!$A$9:$A$16</c:f>
              <c:strCache>
                <c:ptCount val="7"/>
                <c:pt idx="0">
                  <c:v>Sunday</c:v>
                </c:pt>
                <c:pt idx="1">
                  <c:v>Monday</c:v>
                </c:pt>
                <c:pt idx="2">
                  <c:v>Tuesday</c:v>
                </c:pt>
                <c:pt idx="3">
                  <c:v>Wednesday</c:v>
                </c:pt>
                <c:pt idx="4">
                  <c:v>Thursday</c:v>
                </c:pt>
                <c:pt idx="5">
                  <c:v>Friday</c:v>
                </c:pt>
                <c:pt idx="6">
                  <c:v>Saturday</c:v>
                </c:pt>
              </c:strCache>
            </c:strRef>
          </c:cat>
          <c:val>
            <c:numRef>
              <c:f>'Completion Rate Analysis '!$D$9:$D$16</c:f>
              <c:numCache>
                <c:formatCode>0.00%</c:formatCode>
                <c:ptCount val="7"/>
                <c:pt idx="0">
                  <c:v>0.19533693488768836</c:v>
                </c:pt>
                <c:pt idx="1">
                  <c:v>0.21121251629726207</c:v>
                </c:pt>
                <c:pt idx="2">
                  <c:v>0.2122886866059818</c:v>
                </c:pt>
                <c:pt idx="3">
                  <c:v>0.2029955385595921</c:v>
                </c:pt>
                <c:pt idx="4">
                  <c:v>0.2059186189889026</c:v>
                </c:pt>
                <c:pt idx="5">
                  <c:v>0.21119515885022694</c:v>
                </c:pt>
                <c:pt idx="6">
                  <c:v>0.20960569226208123</c:v>
                </c:pt>
              </c:numCache>
            </c:numRef>
          </c:val>
          <c:extLst>
            <c:ext xmlns:c16="http://schemas.microsoft.com/office/drawing/2014/chart" uri="{C3380CC4-5D6E-409C-BE32-E72D297353CC}">
              <c16:uniqueId val="{00000001-ABD9-4E06-BDB8-BA5A7D933638}"/>
            </c:ext>
          </c:extLst>
        </c:ser>
        <c:ser>
          <c:idx val="2"/>
          <c:order val="2"/>
          <c:tx>
            <c:strRef>
              <c:f>'Completion Rate Analysis '!$F$6:$F$8</c:f>
              <c:strCache>
                <c:ptCount val="1"/>
                <c:pt idx="0">
                  <c:v>Late Night - YES</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'Completion Rate Analysis '!$A$9:$A$16</c:f>
              <c:strCache>
                <c:ptCount val="7"/>
                <c:pt idx="0">
                  <c:v>Sunday</c:v>
                </c:pt>
                <c:pt idx="1">
                  <c:v>Monday</c:v>
                </c:pt>
                <c:pt idx="2">
                  <c:v>Tuesday</c:v>
                </c:pt>
                <c:pt idx="3">
                  <c:v>Wednesday</c:v>
                </c:pt>
                <c:pt idx="4">
                  <c:v>Thursday</c:v>
                </c:pt>
                <c:pt idx="5">
                  <c:v>Friday</c:v>
                </c:pt>
                <c:pt idx="6">
                  <c:v>Saturday</c:v>
                </c:pt>
              </c:strCache>
            </c:strRef>
          </c:cat>
          <c:val>
            <c:numRef>
              <c:f>'Completion Rate Analysis '!$F$9:$F$16</c:f>
              <c:numCache>
                <c:formatCode>0.00%</c:formatCode>
                <c:ptCount val="7"/>
                <c:pt idx="0">
                  <c:v>7.7054307648564122E-2</c:v>
                </c:pt>
                <c:pt idx="1">
                  <c:v>6.9752281616688394E-2</c:v>
                </c:pt>
                <c:pt idx="2">
                  <c:v>6.0793237971391419E-2</c:v>
                </c:pt>
                <c:pt idx="3">
                  <c:v>6.5646908859145953E-2</c:v>
                </c:pt>
                <c:pt idx="4">
                  <c:v>6.3193588162762021E-2</c:v>
                </c:pt>
                <c:pt idx="5">
                  <c:v>7.4130105900151289E-2</c:v>
                </c:pt>
                <c:pt idx="6">
                  <c:v>7.4414467832789807E-2</c:v>
                </c:pt>
              </c:numCache>
            </c:numRef>
          </c:val>
          <c:extLst>
            <c:ext xmlns:c16="http://schemas.microsoft.com/office/drawing/2014/chart" uri="{C3380CC4-5D6E-409C-BE32-E72D297353CC}">
              <c16:uniqueId val="{00000002-ABD9-4E06-BDB8-BA5A7D933638}"/>
            </c:ext>
          </c:extLst>
        </c:ser>
        <c:ser>
          <c:idx val="3"/>
          <c:order val="3"/>
          <c:tx>
            <c:strRef>
              <c:f>'Completion Rate Analysis '!$H$6:$H$8</c:f>
              <c:strCache>
                <c:ptCount val="1"/>
                <c:pt idx="0">
                  <c:v>Morning - YES</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'Completion Rate Analysis '!$A$9:$A$16</c:f>
              <c:strCache>
                <c:ptCount val="7"/>
                <c:pt idx="0">
                  <c:v>Sunday</c:v>
                </c:pt>
                <c:pt idx="1">
                  <c:v>Monday</c:v>
                </c:pt>
                <c:pt idx="2">
                  <c:v>Tuesday</c:v>
                </c:pt>
                <c:pt idx="3">
                  <c:v>Wednesday</c:v>
                </c:pt>
                <c:pt idx="4">
                  <c:v>Thursday</c:v>
                </c:pt>
                <c:pt idx="5">
                  <c:v>Friday</c:v>
                </c:pt>
                <c:pt idx="6">
                  <c:v>Saturday</c:v>
                </c:pt>
              </c:strCache>
            </c:strRef>
          </c:cat>
          <c:val>
            <c:numRef>
              <c:f>'Completion Rate Analysis '!$H$9:$H$16</c:f>
              <c:numCache>
                <c:formatCode>0.00%</c:formatCode>
                <c:ptCount val="7"/>
                <c:pt idx="0">
                  <c:v>0.2413989195336935</c:v>
                </c:pt>
                <c:pt idx="1">
                  <c:v>0.23142112125162972</c:v>
                </c:pt>
                <c:pt idx="2">
                  <c:v>0.24642392717815345</c:v>
                </c:pt>
                <c:pt idx="3">
                  <c:v>0.24506054811982153</c:v>
                </c:pt>
                <c:pt idx="4">
                  <c:v>0.23859432799013564</c:v>
                </c:pt>
                <c:pt idx="5">
                  <c:v>0.22148260211800302</c:v>
                </c:pt>
                <c:pt idx="6">
                  <c:v>0.22857989919952565</c:v>
                </c:pt>
              </c:numCache>
            </c:numRef>
          </c:val>
          <c:extLst>
            <c:ext xmlns:c16="http://schemas.microsoft.com/office/drawing/2014/chart" uri="{C3380CC4-5D6E-409C-BE32-E72D297353CC}">
              <c16:uniqueId val="{00000003-ABD9-4E06-BDB8-BA5A7D933638}"/>
            </c:ext>
          </c:extLst>
        </c:ser>
        <c:ser>
          <c:idx val="4"/>
          <c:order val="4"/>
          <c:tx>
            <c:strRef>
              <c:f>'Completion Rate Analysis '!$J$6:$J$8</c:f>
              <c:strCache>
                <c:ptCount val="1"/>
                <c:pt idx="0">
                  <c:v>Night - YES</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'Completion Rate Analysis '!$A$9:$A$16</c:f>
              <c:strCache>
                <c:ptCount val="7"/>
                <c:pt idx="0">
                  <c:v>Sunday</c:v>
                </c:pt>
                <c:pt idx="1">
                  <c:v>Monday</c:v>
                </c:pt>
                <c:pt idx="2">
                  <c:v>Tuesday</c:v>
                </c:pt>
                <c:pt idx="3">
                  <c:v>Wednesday</c:v>
                </c:pt>
                <c:pt idx="4">
                  <c:v>Thursday</c:v>
                </c:pt>
                <c:pt idx="5">
                  <c:v>Friday</c:v>
                </c:pt>
                <c:pt idx="6">
                  <c:v>Saturday</c:v>
                </c:pt>
              </c:strCache>
            </c:strRef>
          </c:cat>
          <c:val>
            <c:numRef>
              <c:f>'Completion Rate Analysis '!$J$9:$J$16</c:f>
              <c:numCache>
                <c:formatCode>0.00%</c:formatCode>
                <c:ptCount val="7"/>
                <c:pt idx="0">
                  <c:v>0.21154392948535683</c:v>
                </c:pt>
                <c:pt idx="1">
                  <c:v>0.23598435462842243</c:v>
                </c:pt>
                <c:pt idx="2">
                  <c:v>0.23211963589076723</c:v>
                </c:pt>
                <c:pt idx="3">
                  <c:v>0.22020395156150413</c:v>
                </c:pt>
                <c:pt idx="4">
                  <c:v>0.2441430332922318</c:v>
                </c:pt>
                <c:pt idx="5">
                  <c:v>0.23177004538577911</c:v>
                </c:pt>
                <c:pt idx="6">
                  <c:v>0.21968573969759858</c:v>
                </c:pt>
              </c:numCache>
            </c:numRef>
          </c:val>
          <c:extLst>
            <c:ext xmlns:c16="http://schemas.microsoft.com/office/drawing/2014/chart" uri="{C3380CC4-5D6E-409C-BE32-E72D297353CC}">
              <c16:uniqueId val="{00000004-ABD9-4E06-BDB8-BA5A7D933638}"/>
            </c:ext>
          </c:extLst>
        </c:ser>
        <c:dLbls>
          <c:showLegendKey val="0"/>
          <c:showVal val="0"/>
          <c:showCatName val="0"/>
          <c:showSerName val="0"/>
          <c:showPercent val="0"/>
          <c:showBubbleSize val="0"/>
        </c:dLbls>
        <c:gapWidth val="100"/>
        <c:overlap val="-24"/>
        <c:axId val="877220463"/>
        <c:axId val="877217103"/>
      </c:barChart>
      <c:catAx>
        <c:axId val="877220463"/>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877217103"/>
        <c:crosses val="autoZero"/>
        <c:auto val="1"/>
        <c:lblAlgn val="ctr"/>
        <c:lblOffset val="100"/>
        <c:noMultiLvlLbl val="0"/>
      </c:catAx>
      <c:valAx>
        <c:axId val="877217103"/>
        <c:scaling>
          <c:orientation val="minMax"/>
        </c:scaling>
        <c:delete val="0"/>
        <c:axPos val="l"/>
        <c:majorGridlines>
          <c:spPr>
            <a:ln w="9525" cap="flat" cmpd="sng" algn="ctr">
              <a:solidFill>
                <a:schemeClr val="lt1">
                  <a:lumMod val="95000"/>
                  <a:alpha val="10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877220463"/>
        <c:crosses val="autoZero"/>
        <c:crossBetween val="between"/>
      </c:valAx>
      <c:spPr>
        <a:noFill/>
        <a:ln>
          <a:noFill/>
        </a:ln>
        <a:effectLst/>
      </c:spPr>
    </c:plotArea>
    <c:legend>
      <c:legendPos val="r"/>
      <c:layout>
        <c:manualLayout>
          <c:xMode val="edge"/>
          <c:yMode val="edge"/>
          <c:x val="0.8133895624670533"/>
          <c:y val="0.18429465678976917"/>
          <c:w val="0.17395888244596733"/>
          <c:h val="0.63182070919950495"/>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[Excel CapstoneTransactionData_.xlsx]Customer Level Analysis !PivotTable15</c:name>
    <c:fmtId val="15"/>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Source level</a:t>
            </a:r>
          </a:p>
        </c:rich>
      </c:tx>
      <c:layout>
        <c:manualLayout>
          <c:xMode val="edge"/>
          <c:yMode val="edge"/>
          <c:x val="0.42015435329271089"/>
          <c:y val="3.138670166229221E-2"/>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5">
                    <a:shade val="76000"/>
                    <a:satMod val="103000"/>
                    <a:lumMod val="102000"/>
                    <a:tint val="94000"/>
                  </a:schemeClr>
                </a:gs>
                <a:gs pos="50000">
                  <a:schemeClr val="accent5">
                    <a:shade val="76000"/>
                    <a:satMod val="110000"/>
                    <a:lumMod val="100000"/>
                    <a:shade val="100000"/>
                  </a:schemeClr>
                </a:gs>
                <a:gs pos="100000">
                  <a:schemeClr val="accent5">
                    <a:shade val="76000"/>
                    <a:lumMod val="99000"/>
                    <a:satMod val="120000"/>
                    <a:shade val="78000"/>
                  </a:schemeClr>
                </a:gs>
              </a:gsLst>
              <a:lin ang="5400000" scaled="0"/>
            </a:gradFill>
            <a:ln w="9525">
              <a:solidFill>
                <a:schemeClr val="accent5">
                  <a:shade val="76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5">
                    <a:tint val="77000"/>
                    <a:satMod val="103000"/>
                    <a:lumMod val="102000"/>
                    <a:tint val="94000"/>
                  </a:schemeClr>
                </a:gs>
                <a:gs pos="50000">
                  <a:schemeClr val="accent5">
                    <a:tint val="77000"/>
                    <a:satMod val="110000"/>
                    <a:lumMod val="100000"/>
                    <a:shade val="100000"/>
                  </a:schemeClr>
                </a:gs>
                <a:gs pos="100000">
                  <a:schemeClr val="accent5">
                    <a:tint val="77000"/>
                    <a:lumMod val="99000"/>
                    <a:satMod val="120000"/>
                    <a:shade val="78000"/>
                  </a:schemeClr>
                </a:gs>
              </a:gsLst>
              <a:lin ang="5400000" scaled="0"/>
            </a:gradFill>
            <a:ln w="9525">
              <a:solidFill>
                <a:schemeClr val="accent5">
                  <a:tint val="77000"/>
                </a:schemeClr>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4139908187152281"/>
          <c:y val="0.14249781277340332"/>
          <c:w val="0.78510477696079495"/>
          <c:h val="0.6076742490522018"/>
        </c:manualLayout>
      </c:layout>
      <c:barChart>
        <c:barDir val="col"/>
        <c:grouping val="clustered"/>
        <c:varyColors val="0"/>
        <c:ser>
          <c:idx val="0"/>
          <c:order val="0"/>
          <c:tx>
            <c:strRef>
              <c:f>'Customer Level Analysis '!$B$7</c:f>
              <c:strCache>
                <c:ptCount val="1"/>
                <c:pt idx="0">
                  <c:v>Count of Completion Flag</c:v>
                </c:pt>
              </c:strCache>
            </c:strRef>
          </c:tx>
          <c:spPr>
            <a:solidFill>
              <a:srgbClr val="92D050"/>
            </a:soli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'Customer Level Analysis '!$A$8:$A$14</c:f>
              <c:strCache>
                <c:ptCount val="6"/>
                <c:pt idx="0">
                  <c:v>Facebook</c:v>
                </c:pt>
                <c:pt idx="1">
                  <c:v>Google</c:v>
                </c:pt>
                <c:pt idx="2">
                  <c:v>Instagram</c:v>
                </c:pt>
                <c:pt idx="3">
                  <c:v>Offline Campaign</c:v>
                </c:pt>
                <c:pt idx="4">
                  <c:v>Organic</c:v>
                </c:pt>
                <c:pt idx="5">
                  <c:v>Snapchat</c:v>
                </c:pt>
              </c:strCache>
            </c:strRef>
          </c:cat>
          <c:val>
            <c:numRef>
              <c:f>'Customer Level Analysis '!$B$8:$B$14</c:f>
              <c:numCache>
                <c:formatCode>General</c:formatCode>
                <c:ptCount val="6"/>
                <c:pt idx="0">
                  <c:v>2618</c:v>
                </c:pt>
                <c:pt idx="1">
                  <c:v>5348</c:v>
                </c:pt>
                <c:pt idx="2">
                  <c:v>2784</c:v>
                </c:pt>
                <c:pt idx="3">
                  <c:v>2862</c:v>
                </c:pt>
                <c:pt idx="4">
                  <c:v>6680</c:v>
                </c:pt>
                <c:pt idx="5">
                  <c:v>2531</c:v>
                </c:pt>
              </c:numCache>
            </c:numRef>
          </c:val>
          <c:extLst>
            <c:ext xmlns:c16="http://schemas.microsoft.com/office/drawing/2014/chart" uri="{C3380CC4-5D6E-409C-BE32-E72D297353CC}">
              <c16:uniqueId val="{00000000-94BE-4179-9758-87678CA19A83}"/>
            </c:ext>
          </c:extLst>
        </c:ser>
        <c:ser>
          <c:idx val="1"/>
          <c:order val="1"/>
          <c:tx>
            <c:strRef>
              <c:f>'Customer Level Analysis '!$C$7</c:f>
              <c:strCache>
                <c:ptCount val="1"/>
                <c:pt idx="0">
                  <c:v> Completion Rate</c:v>
                </c:pt>
              </c:strCache>
            </c:strRef>
          </c:tx>
          <c:spPr>
            <a:gradFill rotWithShape="1">
              <a:gsLst>
                <a:gs pos="0">
                  <a:schemeClr val="accent5">
                    <a:tint val="77000"/>
                    <a:satMod val="103000"/>
                    <a:lumMod val="102000"/>
                    <a:tint val="94000"/>
                  </a:schemeClr>
                </a:gs>
                <a:gs pos="50000">
                  <a:schemeClr val="accent5">
                    <a:tint val="77000"/>
                    <a:satMod val="110000"/>
                    <a:lumMod val="100000"/>
                    <a:shade val="100000"/>
                  </a:schemeClr>
                </a:gs>
                <a:gs pos="100000">
                  <a:schemeClr val="accent5">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'Customer Level Analysis '!$A$8:$A$14</c:f>
              <c:strCache>
                <c:ptCount val="6"/>
                <c:pt idx="0">
                  <c:v>Facebook</c:v>
                </c:pt>
                <c:pt idx="1">
                  <c:v>Google</c:v>
                </c:pt>
                <c:pt idx="2">
                  <c:v>Instagram</c:v>
                </c:pt>
                <c:pt idx="3">
                  <c:v>Offline Campaign</c:v>
                </c:pt>
                <c:pt idx="4">
                  <c:v>Organic</c:v>
                </c:pt>
                <c:pt idx="5">
                  <c:v>Snapchat</c:v>
                </c:pt>
              </c:strCache>
            </c:strRef>
          </c:cat>
          <c:val>
            <c:numRef>
              <c:f>'Customer Level Analysis '!$C$8:$C$14</c:f>
              <c:numCache>
                <c:formatCode>0.00%</c:formatCode>
                <c:ptCount val="6"/>
                <c:pt idx="0">
                  <c:v>0.11470884633921921</c:v>
                </c:pt>
                <c:pt idx="1">
                  <c:v>0.23432502300311089</c:v>
                </c:pt>
                <c:pt idx="2">
                  <c:v>0.12198221092757307</c:v>
                </c:pt>
                <c:pt idx="3">
                  <c:v>0.12539981597511282</c:v>
                </c:pt>
                <c:pt idx="4">
                  <c:v>0.29268720150725147</c:v>
                </c:pt>
                <c:pt idx="5">
                  <c:v>0.11089690224773255</c:v>
                </c:pt>
              </c:numCache>
            </c:numRef>
          </c:val>
          <c:extLst>
            <c:ext xmlns:c16="http://schemas.microsoft.com/office/drawing/2014/chart" uri="{C3380CC4-5D6E-409C-BE32-E72D297353CC}">
              <c16:uniqueId val="{00000001-94BE-4179-9758-87678CA19A83}"/>
            </c:ext>
          </c:extLst>
        </c:ser>
        <c:dLbls>
          <c:showLegendKey val="0"/>
          <c:showVal val="0"/>
          <c:showCatName val="0"/>
          <c:showSerName val="0"/>
          <c:showPercent val="0"/>
          <c:showBubbleSize val="0"/>
        </c:dLbls>
        <c:gapWidth val="100"/>
        <c:overlap val="-24"/>
        <c:axId val="475685423"/>
        <c:axId val="475705103"/>
      </c:barChart>
      <c:catAx>
        <c:axId val="475685423"/>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US" sz="1000" b="1" i="0" u="none" strike="noStrike" cap="all" baseline="0">
                    <a:effectLst/>
                  </a:rPr>
                  <a:t>source</a:t>
                </a:r>
                <a:r>
                  <a:rPr lang="en-US" sz="900" b="1" i="0" u="none" strike="noStrike" cap="all" baseline="0">
                    <a:effectLst/>
                  </a:rPr>
                  <a:t> </a:t>
                </a:r>
                <a:endParaRPr lang="en-US"/>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75705103"/>
        <c:crosses val="autoZero"/>
        <c:auto val="1"/>
        <c:lblAlgn val="ctr"/>
        <c:lblOffset val="100"/>
        <c:noMultiLvlLbl val="0"/>
      </c:catAx>
      <c:valAx>
        <c:axId val="475705103"/>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US" sz="1000"/>
                  <a:t>Completion</a:t>
                </a:r>
                <a:r>
                  <a:rPr lang="en-US" sz="1000" baseline="0"/>
                  <a:t> rate</a:t>
                </a:r>
                <a:endParaRPr lang="en-US" sz="1000"/>
              </a:p>
            </c:rich>
          </c:tx>
          <c:layout>
            <c:manualLayout>
              <c:xMode val="edge"/>
              <c:yMode val="edge"/>
              <c:x val="2.8229367082010501E-2"/>
              <c:y val="0.24731846019247594"/>
            </c:manualLayout>
          </c:layout>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7568542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CapstoneTransactionData_.xlsx]Delivery Analysis !PivotTable23</c:name>
    <c:fmtId val="16"/>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1600" b="1" i="0" u="none" strike="noStrike" baseline="0">
                <a:solidFill>
                  <a:schemeClr val="bg1"/>
                </a:solidFill>
                <a:effectLst/>
              </a:rPr>
              <a:t>Month and weekday/weekend</a:t>
            </a:r>
            <a:endParaRPr lang="en-US">
              <a:solidFill>
                <a:schemeClr val="bg1"/>
              </a:solidFill>
            </a:endParaRPr>
          </a:p>
        </c:rich>
      </c:tx>
      <c:layout>
        <c:manualLayout>
          <c:xMode val="edge"/>
          <c:yMode val="edge"/>
          <c:x val="0.24804611983888486"/>
          <c:y val="4.9905220180810735E-2"/>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5536045916965691"/>
          <c:y val="0.19124781277340333"/>
          <c:w val="0.64120422145299472"/>
          <c:h val="0.49711650627004966"/>
        </c:manualLayout>
      </c:layout>
      <c:barChart>
        <c:barDir val="col"/>
        <c:grouping val="clustered"/>
        <c:varyColors val="0"/>
        <c:ser>
          <c:idx val="0"/>
          <c:order val="0"/>
          <c:tx>
            <c:strRef>
              <c:f>'Delivery Analysis '!$B$67:$B$68</c:f>
              <c:strCache>
                <c:ptCount val="1"/>
                <c:pt idx="0">
                  <c:v>Weekday</c:v>
                </c:pt>
              </c:strCache>
            </c:strRef>
          </c:tx>
          <c:spPr>
            <a:solidFill>
              <a:srgbClr val="FFFF00"/>
            </a:soli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'Delivery Analysis '!$A$69:$A$78</c:f>
              <c:strCache>
                <c:ptCount val="9"/>
                <c:pt idx="0">
                  <c:v>January</c:v>
                </c:pt>
                <c:pt idx="1">
                  <c:v>February</c:v>
                </c:pt>
                <c:pt idx="2">
                  <c:v>March</c:v>
                </c:pt>
                <c:pt idx="3">
                  <c:v>April</c:v>
                </c:pt>
                <c:pt idx="4">
                  <c:v>May</c:v>
                </c:pt>
                <c:pt idx="5">
                  <c:v>June</c:v>
                </c:pt>
                <c:pt idx="6">
                  <c:v>July</c:v>
                </c:pt>
                <c:pt idx="7">
                  <c:v>August</c:v>
                </c:pt>
                <c:pt idx="8">
                  <c:v>September</c:v>
                </c:pt>
              </c:strCache>
            </c:strRef>
          </c:cat>
          <c:val>
            <c:numRef>
              <c:f>'Delivery Analysis '!$B$69:$B$78</c:f>
              <c:numCache>
                <c:formatCode>General</c:formatCode>
                <c:ptCount val="9"/>
                <c:pt idx="0">
                  <c:v>1.5737249299576313E-2</c:v>
                </c:pt>
                <c:pt idx="1">
                  <c:v>1.344753150294333E-2</c:v>
                </c:pt>
                <c:pt idx="2">
                  <c:v>1.4019232633187391E-2</c:v>
                </c:pt>
                <c:pt idx="3">
                  <c:v>1.9007192321992921E-2</c:v>
                </c:pt>
                <c:pt idx="4">
                  <c:v>2.9538307971759565E-2</c:v>
                </c:pt>
                <c:pt idx="5">
                  <c:v>1.5910110180012416E-2</c:v>
                </c:pt>
                <c:pt idx="6">
                  <c:v>1.3591671712584529E-2</c:v>
                </c:pt>
                <c:pt idx="7">
                  <c:v>1.5702307746677947E-2</c:v>
                </c:pt>
                <c:pt idx="8">
                  <c:v>1.3597379027249926E-2</c:v>
                </c:pt>
              </c:numCache>
            </c:numRef>
          </c:val>
          <c:extLst>
            <c:ext xmlns:c16="http://schemas.microsoft.com/office/drawing/2014/chart" uri="{C3380CC4-5D6E-409C-BE32-E72D297353CC}">
              <c16:uniqueId val="{00000000-5CFC-4FA1-A5DA-4F83913D442B}"/>
            </c:ext>
          </c:extLst>
        </c:ser>
        <c:ser>
          <c:idx val="1"/>
          <c:order val="1"/>
          <c:tx>
            <c:strRef>
              <c:f>'Delivery Analysis '!$C$67:$C$68</c:f>
              <c:strCache>
                <c:ptCount val="1"/>
                <c:pt idx="0">
                  <c:v>Weekend</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'Delivery Analysis '!$A$69:$A$78</c:f>
              <c:strCache>
                <c:ptCount val="9"/>
                <c:pt idx="0">
                  <c:v>January</c:v>
                </c:pt>
                <c:pt idx="1">
                  <c:v>February</c:v>
                </c:pt>
                <c:pt idx="2">
                  <c:v>March</c:v>
                </c:pt>
                <c:pt idx="3">
                  <c:v>April</c:v>
                </c:pt>
                <c:pt idx="4">
                  <c:v>May</c:v>
                </c:pt>
                <c:pt idx="5">
                  <c:v>June</c:v>
                </c:pt>
                <c:pt idx="6">
                  <c:v>July</c:v>
                </c:pt>
                <c:pt idx="7">
                  <c:v>August</c:v>
                </c:pt>
                <c:pt idx="8">
                  <c:v>September</c:v>
                </c:pt>
              </c:strCache>
            </c:strRef>
          </c:cat>
          <c:val>
            <c:numRef>
              <c:f>'Delivery Analysis '!$C$69:$C$78</c:f>
              <c:numCache>
                <c:formatCode>General</c:formatCode>
                <c:ptCount val="9"/>
                <c:pt idx="0">
                  <c:v>1.4694595217823186E-2</c:v>
                </c:pt>
                <c:pt idx="1">
                  <c:v>1.3406873219373221E-2</c:v>
                </c:pt>
                <c:pt idx="2">
                  <c:v>1.4267284775863214E-2</c:v>
                </c:pt>
                <c:pt idx="3">
                  <c:v>2.0413620857699818E-2</c:v>
                </c:pt>
                <c:pt idx="4">
                  <c:v>3.3677524903457969E-2</c:v>
                </c:pt>
                <c:pt idx="5">
                  <c:v>1.5895876550412739E-2</c:v>
                </c:pt>
                <c:pt idx="6">
                  <c:v>1.4264546181984462E-2</c:v>
                </c:pt>
                <c:pt idx="7">
                  <c:v>1.5896245020313188E-2</c:v>
                </c:pt>
                <c:pt idx="8">
                  <c:v>1.3639040862319481E-2</c:v>
                </c:pt>
              </c:numCache>
            </c:numRef>
          </c:val>
          <c:extLst>
            <c:ext xmlns:c16="http://schemas.microsoft.com/office/drawing/2014/chart" uri="{C3380CC4-5D6E-409C-BE32-E72D297353CC}">
              <c16:uniqueId val="{00000001-5CFC-4FA1-A5DA-4F83913D442B}"/>
            </c:ext>
          </c:extLst>
        </c:ser>
        <c:dLbls>
          <c:showLegendKey val="0"/>
          <c:showVal val="0"/>
          <c:showCatName val="0"/>
          <c:showSerName val="0"/>
          <c:showPercent val="0"/>
          <c:showBubbleSize val="0"/>
        </c:dLbls>
        <c:gapWidth val="100"/>
        <c:overlap val="-24"/>
        <c:axId val="284396127"/>
        <c:axId val="284396607"/>
      </c:barChart>
      <c:catAx>
        <c:axId val="284396127"/>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US" sz="1400" dirty="0"/>
                  <a:t>Month</a:t>
                </a:r>
                <a:endParaRPr lang="en-US" dirty="0"/>
              </a:p>
            </c:rich>
          </c:tx>
          <c:layout>
            <c:manualLayout>
              <c:xMode val="edge"/>
              <c:yMode val="edge"/>
              <c:x val="0.44282341491678079"/>
              <c:y val="0.89610552162477897"/>
            </c:manualLayout>
          </c:layout>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84396607"/>
        <c:crosses val="autoZero"/>
        <c:auto val="1"/>
        <c:lblAlgn val="ctr"/>
        <c:lblOffset val="100"/>
        <c:noMultiLvlLbl val="0"/>
      </c:catAx>
      <c:valAx>
        <c:axId val="284396607"/>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US" sz="1400" dirty="0"/>
                  <a:t>Delivery</a:t>
                </a:r>
                <a:r>
                  <a:rPr lang="en-US" sz="1400" baseline="0" dirty="0"/>
                  <a:t> Time</a:t>
                </a:r>
                <a:endParaRPr lang="en-US" sz="1400" dirty="0"/>
              </a:p>
            </c:rich>
          </c:tx>
          <c:layout>
            <c:manualLayout>
              <c:xMode val="edge"/>
              <c:yMode val="edge"/>
              <c:x val="3.0091166140464327E-2"/>
              <c:y val="0.30354440069991251"/>
            </c:manualLayout>
          </c:layout>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84396127"/>
        <c:crosses val="autoZero"/>
        <c:crossBetween val="between"/>
      </c:valAx>
      <c:spPr>
        <a:noFill/>
        <a:ln>
          <a:noFill/>
        </a:ln>
        <a:effectLst/>
      </c:spPr>
    </c:plotArea>
    <c:legend>
      <c:legendPos val="r"/>
      <c:layout>
        <c:manualLayout>
          <c:xMode val="edge"/>
          <c:yMode val="edge"/>
          <c:x val="0.82295615216543716"/>
          <c:y val="0.21074861024685018"/>
          <c:w val="0.14513578287152143"/>
          <c:h val="0.5051935434209726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CapstoneTransactionData_.xlsx]Delivery Analysis !PivotTable24</c:name>
    <c:fmtId val="1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1" i="0" u="none" strike="noStrike" baseline="0">
                <a:effectLst/>
              </a:rPr>
              <a:t>Overall Delivery </a:t>
            </a:r>
            <a:endParaRPr lang="en-US"/>
          </a:p>
        </c:rich>
      </c:tx>
      <c:layout>
        <c:manualLayout>
          <c:xMode val="edge"/>
          <c:yMode val="edge"/>
          <c:x val="0.3228527576696677"/>
          <c:y val="7.7177689603420987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3"/>
          </a:solidFill>
          <a:ln>
            <a:noFill/>
          </a:ln>
          <a:effectLst/>
        </c:spPr>
        <c:dLbl>
          <c:idx val="0"/>
          <c:layout>
            <c:manualLayout>
              <c:x val="-9.2606422703510105E-2"/>
              <c:y val="-9.8565169610477358E-17"/>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2"/>
          </a:solidFill>
          <a:ln>
            <a:noFill/>
          </a:ln>
          <a:effectLst/>
        </c:spPr>
        <c:dLbl>
          <c:idx val="0"/>
          <c:layout>
            <c:manualLayout>
              <c:x val="2.6885735623599701E-2"/>
              <c:y val="2.1505376344086023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
        <c:spPr>
          <a:solidFill>
            <a:schemeClr val="accent1"/>
          </a:solidFill>
          <a:ln>
            <a:no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
        <c:spPr>
          <a:solidFill>
            <a:schemeClr val="accent1"/>
          </a:solidFill>
          <a:ln>
            <a:noFill/>
          </a:ln>
          <a:effectLst/>
        </c:spPr>
      </c:pivotFmt>
      <c:pivotFmt>
        <c:idx val="5"/>
        <c:spPr>
          <a:solidFill>
            <a:schemeClr val="accent1"/>
          </a:solidFill>
          <a:ln>
            <a:noFill/>
          </a:ln>
          <a:effectLst/>
        </c:spPr>
        <c:dLbl>
          <c:idx val="0"/>
          <c:layout>
            <c:manualLayout>
              <c:x val="2.6885735623599701E-2"/>
              <c:y val="2.1505376344086023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6"/>
        <c:spPr>
          <a:solidFill>
            <a:schemeClr val="accent1"/>
          </a:solidFill>
          <a:ln>
            <a:noFill/>
          </a:ln>
          <a:effectLst/>
        </c:spPr>
        <c:dLbl>
          <c:idx val="0"/>
          <c:layout>
            <c:manualLayout>
              <c:x val="-9.2606422703510105E-2"/>
              <c:y val="-9.8565169610477358E-17"/>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7"/>
        <c:spPr>
          <a:solidFill>
            <a:schemeClr val="accent1"/>
          </a:solidFill>
          <a:ln>
            <a:noFill/>
          </a:ln>
          <a:effectLst/>
        </c:spPr>
      </c:pivotFmt>
      <c:pivotFmt>
        <c:idx val="8"/>
        <c:spPr>
          <a:solidFill>
            <a:schemeClr val="accent1"/>
          </a:solidFill>
          <a:ln>
            <a:noFill/>
          </a:ln>
          <a:effectLst/>
        </c:spPr>
      </c:pivotFmt>
      <c:pivotFmt>
        <c:idx val="9"/>
        <c:spPr>
          <a:solidFill>
            <a:schemeClr val="accent1"/>
          </a:solidFill>
          <a:ln>
            <a:no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0"/>
        <c:spPr>
          <a:solidFill>
            <a:schemeClr val="accent1"/>
          </a:solidFill>
          <a:ln>
            <a:noFill/>
          </a:ln>
          <a:effectLst/>
        </c:spPr>
      </c:pivotFmt>
      <c:pivotFmt>
        <c:idx val="11"/>
        <c:spPr>
          <a:solidFill>
            <a:schemeClr val="accent1"/>
          </a:solidFill>
          <a:ln>
            <a:noFill/>
          </a:ln>
          <a:effectLst/>
        </c:spPr>
        <c:dLbl>
          <c:idx val="0"/>
          <c:layout>
            <c:manualLayout>
              <c:x val="2.6885735623599701E-2"/>
              <c:y val="2.1505376344086023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2"/>
        <c:spPr>
          <a:solidFill>
            <a:schemeClr val="accent1"/>
          </a:solidFill>
          <a:ln>
            <a:noFill/>
          </a:ln>
          <a:effectLst/>
        </c:spPr>
        <c:dLbl>
          <c:idx val="0"/>
          <c:layout>
            <c:manualLayout>
              <c:x val="-9.2606422703510105E-2"/>
              <c:y val="-9.8565169610477358E-17"/>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3"/>
        <c:spPr>
          <a:solidFill>
            <a:schemeClr val="accent1"/>
          </a:solidFill>
          <a:ln>
            <a:noFill/>
          </a:ln>
          <a:effectLst/>
        </c:spPr>
      </c:pivotFmt>
      <c:pivotFmt>
        <c:idx val="14"/>
        <c:spPr>
          <a:solidFill>
            <a:schemeClr val="accent1"/>
          </a:solidFill>
          <a:ln>
            <a:noFill/>
          </a:ln>
          <a:effectLst/>
        </c:spPr>
      </c:pivotFmt>
    </c:pivotFmts>
    <c:plotArea>
      <c:layout/>
      <c:pieChart>
        <c:varyColors val="1"/>
        <c:ser>
          <c:idx val="0"/>
          <c:order val="0"/>
          <c:tx>
            <c:strRef>
              <c:f>'Delivery Analysis '!$B$85</c:f>
              <c:strCache>
                <c:ptCount val="1"/>
                <c:pt idx="0">
                  <c:v>Total</c:v>
                </c:pt>
              </c:strCache>
            </c:strRef>
          </c:tx>
          <c:explosion val="2"/>
          <c:dPt>
            <c:idx val="0"/>
            <c:bubble3D val="0"/>
            <c:spPr>
              <a:solidFill>
                <a:schemeClr val="accent1"/>
              </a:solidFill>
              <a:ln>
                <a:noFill/>
              </a:ln>
              <a:effectLst/>
            </c:spPr>
            <c:extLst>
              <c:ext xmlns:c16="http://schemas.microsoft.com/office/drawing/2014/chart" uri="{C3380CC4-5D6E-409C-BE32-E72D297353CC}">
                <c16:uniqueId val="{00000001-CC42-4139-B188-59CAD9D9D984}"/>
              </c:ext>
            </c:extLst>
          </c:dPt>
          <c:dPt>
            <c:idx val="1"/>
            <c:bubble3D val="0"/>
            <c:spPr>
              <a:solidFill>
                <a:schemeClr val="accent2"/>
              </a:solidFill>
              <a:ln>
                <a:noFill/>
              </a:ln>
              <a:effectLst/>
            </c:spPr>
            <c:extLst>
              <c:ext xmlns:c16="http://schemas.microsoft.com/office/drawing/2014/chart" uri="{C3380CC4-5D6E-409C-BE32-E72D297353CC}">
                <c16:uniqueId val="{00000003-CC42-4139-B188-59CAD9D9D984}"/>
              </c:ext>
            </c:extLst>
          </c:dPt>
          <c:dPt>
            <c:idx val="2"/>
            <c:bubble3D val="0"/>
            <c:spPr>
              <a:solidFill>
                <a:schemeClr val="accent3"/>
              </a:solidFill>
              <a:ln>
                <a:noFill/>
              </a:ln>
              <a:effectLst/>
            </c:spPr>
            <c:extLst>
              <c:ext xmlns:c16="http://schemas.microsoft.com/office/drawing/2014/chart" uri="{C3380CC4-5D6E-409C-BE32-E72D297353CC}">
                <c16:uniqueId val="{00000005-CC42-4139-B188-59CAD9D9D984}"/>
              </c:ext>
            </c:extLst>
          </c:dPt>
          <c:dPt>
            <c:idx val="3"/>
            <c:bubble3D val="0"/>
            <c:spPr>
              <a:solidFill>
                <a:schemeClr val="accent4"/>
              </a:solidFill>
              <a:ln>
                <a:noFill/>
              </a:ln>
              <a:effectLst/>
            </c:spPr>
            <c:extLst>
              <c:ext xmlns:c16="http://schemas.microsoft.com/office/drawing/2014/chart" uri="{C3380CC4-5D6E-409C-BE32-E72D297353CC}">
                <c16:uniqueId val="{00000007-CC42-4139-B188-59CAD9D9D984}"/>
              </c:ext>
            </c:extLst>
          </c:dPt>
          <c:dPt>
            <c:idx val="4"/>
            <c:bubble3D val="0"/>
            <c:spPr>
              <a:solidFill>
                <a:schemeClr val="accent5"/>
              </a:solidFill>
              <a:ln>
                <a:noFill/>
              </a:ln>
              <a:effectLst/>
            </c:spPr>
            <c:extLst>
              <c:ext xmlns:c16="http://schemas.microsoft.com/office/drawing/2014/chart" uri="{C3380CC4-5D6E-409C-BE32-E72D297353CC}">
                <c16:uniqueId val="{00000009-CC42-4139-B188-59CAD9D9D984}"/>
              </c:ext>
            </c:extLst>
          </c:dPt>
          <c:dLbls>
            <c:dLbl>
              <c:idx val="1"/>
              <c:layout>
                <c:manualLayout>
                  <c:x val="2.6885735623599701E-2"/>
                  <c:y val="2.1505376344086023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C42-4139-B188-59CAD9D9D984}"/>
                </c:ext>
              </c:extLst>
            </c:dLbl>
            <c:dLbl>
              <c:idx val="2"/>
              <c:layout>
                <c:manualLayout>
                  <c:x val="-9.2606422703510105E-2"/>
                  <c:y val="-9.8565169610477358E-17"/>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CC42-4139-B188-59CAD9D9D984}"/>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'Delivery Analysis '!$A$86:$A$91</c:f>
              <c:strCache>
                <c:ptCount val="5"/>
                <c:pt idx="0">
                  <c:v>Afternoon</c:v>
                </c:pt>
                <c:pt idx="1">
                  <c:v>Evening</c:v>
                </c:pt>
                <c:pt idx="2">
                  <c:v>Late Night</c:v>
                </c:pt>
                <c:pt idx="3">
                  <c:v>Morning</c:v>
                </c:pt>
                <c:pt idx="4">
                  <c:v>Night</c:v>
                </c:pt>
              </c:strCache>
            </c:strRef>
          </c:cat>
          <c:val>
            <c:numRef>
              <c:f>'Delivery Analysis '!$B$86:$B$91</c:f>
              <c:numCache>
                <c:formatCode>0.0000000</c:formatCode>
                <c:ptCount val="5"/>
                <c:pt idx="0">
                  <c:v>1.7895710637207032E-2</c:v>
                </c:pt>
                <c:pt idx="1">
                  <c:v>1.7733601266270566E-2</c:v>
                </c:pt>
                <c:pt idx="2">
                  <c:v>1.2135434876348985E-2</c:v>
                </c:pt>
                <c:pt idx="3">
                  <c:v>1.7410049105516766E-2</c:v>
                </c:pt>
                <c:pt idx="4">
                  <c:v>1.5641017949702355E-2</c:v>
                </c:pt>
              </c:numCache>
            </c:numRef>
          </c:val>
          <c:extLst>
            <c:ext xmlns:c16="http://schemas.microsoft.com/office/drawing/2014/chart" uri="{C3380CC4-5D6E-409C-BE32-E72D297353CC}">
              <c16:uniqueId val="{0000000A-CC42-4139-B188-59CAD9D9D984}"/>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0.76273952991243454"/>
          <c:y val="0.22628391237825124"/>
          <c:w val="0.21187959048061489"/>
          <c:h val="0.5317479468292269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 id="18">
  <a:schemeClr val="accent5"/>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D6364F-39F1-4FEB-81C6-108FE96CD67C}" type="datetimeFigureOut">
              <a:rPr lang="en-US" smtClean="0"/>
              <a:t>7/28/2024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B91C6-4238-48AC-981A-E33D07C31F8A}" type="slidenum">
              <a:rPr lang="en-US" smtClean="0"/>
              <a:t>‹#›</a:t>
            </a:fld>
            <a:endParaRPr lang="en-US"/>
          </a:p>
        </p:txBody>
      </p:sp>
    </p:spTree>
    <p:extLst>
      <p:ext uri="{BB962C8B-B14F-4D97-AF65-F5344CB8AC3E}">
        <p14:creationId xmlns:p14="http://schemas.microsoft.com/office/powerpoint/2010/main" val="149863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1B91C6-4238-48AC-981A-E33D07C31F8A}" type="slidenum">
              <a:rPr lang="en-US" smtClean="0"/>
              <a:t>1</a:t>
            </a:fld>
            <a:endParaRPr lang="en-US"/>
          </a:p>
        </p:txBody>
      </p:sp>
    </p:spTree>
    <p:extLst>
      <p:ext uri="{BB962C8B-B14F-4D97-AF65-F5344CB8AC3E}">
        <p14:creationId xmlns:p14="http://schemas.microsoft.com/office/powerpoint/2010/main" val="462970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FE1788-2BFA-4B95-A629-9496E2FFB1BF}" type="datetimeFigureOut">
              <a:rPr lang="en-US" smtClean="0"/>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AC54F4-1AF0-44FE-9F4F-4DE96AFB47BA}" type="slidenum">
              <a:rPr lang="en-US" smtClean="0"/>
              <a:t>‹#›</a:t>
            </a:fld>
            <a:endParaRPr lang="en-US"/>
          </a:p>
        </p:txBody>
      </p:sp>
    </p:spTree>
    <p:extLst>
      <p:ext uri="{BB962C8B-B14F-4D97-AF65-F5344CB8AC3E}">
        <p14:creationId xmlns:p14="http://schemas.microsoft.com/office/powerpoint/2010/main" val="2641109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E1788-2BFA-4B95-A629-9496E2FFB1BF}" type="datetimeFigureOut">
              <a:rPr lang="en-US" smtClean="0"/>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AC54F4-1AF0-44FE-9F4F-4DE96AFB47BA}" type="slidenum">
              <a:rPr lang="en-US" smtClean="0"/>
              <a:t>‹#›</a:t>
            </a:fld>
            <a:endParaRPr lang="en-US"/>
          </a:p>
        </p:txBody>
      </p:sp>
    </p:spTree>
    <p:extLst>
      <p:ext uri="{BB962C8B-B14F-4D97-AF65-F5344CB8AC3E}">
        <p14:creationId xmlns:p14="http://schemas.microsoft.com/office/powerpoint/2010/main" val="3378834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FE1788-2BFA-4B95-A629-9496E2FFB1BF}" type="datetimeFigureOut">
              <a:rPr lang="en-US" smtClean="0"/>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AC54F4-1AF0-44FE-9F4F-4DE96AFB47BA}" type="slidenum">
              <a:rPr lang="en-US" smtClean="0"/>
              <a:t>‹#›</a:t>
            </a:fld>
            <a:endParaRPr lang="en-US"/>
          </a:p>
        </p:txBody>
      </p:sp>
    </p:spTree>
    <p:extLst>
      <p:ext uri="{BB962C8B-B14F-4D97-AF65-F5344CB8AC3E}">
        <p14:creationId xmlns:p14="http://schemas.microsoft.com/office/powerpoint/2010/main" val="1412311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FE1788-2BFA-4B95-A629-9496E2FFB1BF}" type="datetimeFigureOut">
              <a:rPr lang="en-US" smtClean="0"/>
              <a:t>7/28/2024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AC54F4-1AF0-44FE-9F4F-4DE96AFB47BA}" type="slidenum">
              <a:rPr lang="en-US" smtClean="0"/>
              <a:t>‹#›</a:t>
            </a:fld>
            <a:endParaRPr lang="en-US"/>
          </a:p>
        </p:txBody>
      </p:sp>
    </p:spTree>
    <p:extLst>
      <p:ext uri="{BB962C8B-B14F-4D97-AF65-F5344CB8AC3E}">
        <p14:creationId xmlns:p14="http://schemas.microsoft.com/office/powerpoint/2010/main" val="4286871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FE1788-2BFA-4B95-A629-9496E2FFB1BF}" type="datetimeFigureOut">
              <a:rPr lang="en-US" smtClean="0"/>
              <a:t>7/28/2024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AC54F4-1AF0-44FE-9F4F-4DE96AFB47BA}" type="slidenum">
              <a:rPr lang="en-US" smtClean="0"/>
              <a:t>‹#›</a:t>
            </a:fld>
            <a:endParaRPr lang="en-US"/>
          </a:p>
        </p:txBody>
      </p:sp>
    </p:spTree>
    <p:extLst>
      <p:ext uri="{BB962C8B-B14F-4D97-AF65-F5344CB8AC3E}">
        <p14:creationId xmlns:p14="http://schemas.microsoft.com/office/powerpoint/2010/main" val="4027591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FE1788-2BFA-4B95-A629-9496E2FFB1BF}" type="datetimeFigureOut">
              <a:rPr lang="en-US" smtClean="0"/>
              <a:t>7/28/2024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AC54F4-1AF0-44FE-9F4F-4DE96AFB47BA}" type="slidenum">
              <a:rPr lang="en-US" smtClean="0"/>
              <a:t>‹#›</a:t>
            </a:fld>
            <a:endParaRPr lang="en-US"/>
          </a:p>
        </p:txBody>
      </p:sp>
    </p:spTree>
    <p:extLst>
      <p:ext uri="{BB962C8B-B14F-4D97-AF65-F5344CB8AC3E}">
        <p14:creationId xmlns:p14="http://schemas.microsoft.com/office/powerpoint/2010/main" val="3583761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FE1788-2BFA-4B95-A629-9496E2FFB1BF}" type="datetimeFigureOut">
              <a:rPr lang="en-US" smtClean="0"/>
              <a:t>7/28/2024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5AC54F4-1AF0-44FE-9F4F-4DE96AFB47BA}" type="slidenum">
              <a:rPr lang="en-US" smtClean="0"/>
              <a:t>‹#›</a:t>
            </a:fld>
            <a:endParaRPr lang="en-US"/>
          </a:p>
        </p:txBody>
      </p:sp>
    </p:spTree>
    <p:extLst>
      <p:ext uri="{BB962C8B-B14F-4D97-AF65-F5344CB8AC3E}">
        <p14:creationId xmlns:p14="http://schemas.microsoft.com/office/powerpoint/2010/main" val="1923700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FE1788-2BFA-4B95-A629-9496E2FFB1BF}" type="datetimeFigureOut">
              <a:rPr lang="en-US" smtClean="0"/>
              <a:t>7/28/2024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AC54F4-1AF0-44FE-9F4F-4DE96AFB47BA}" type="slidenum">
              <a:rPr lang="en-US" smtClean="0"/>
              <a:t>‹#›</a:t>
            </a:fld>
            <a:endParaRPr lang="en-US"/>
          </a:p>
        </p:txBody>
      </p:sp>
    </p:spTree>
    <p:extLst>
      <p:ext uri="{BB962C8B-B14F-4D97-AF65-F5344CB8AC3E}">
        <p14:creationId xmlns:p14="http://schemas.microsoft.com/office/powerpoint/2010/main" val="1218395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FE1788-2BFA-4B95-A629-9496E2FFB1BF}" type="datetimeFigureOut">
              <a:rPr lang="en-US" smtClean="0"/>
              <a:t>7/28/2024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AC54F4-1AF0-44FE-9F4F-4DE96AFB47BA}" type="slidenum">
              <a:rPr lang="en-US" smtClean="0"/>
              <a:t>‹#›</a:t>
            </a:fld>
            <a:endParaRPr lang="en-US"/>
          </a:p>
        </p:txBody>
      </p:sp>
    </p:spTree>
    <p:extLst>
      <p:ext uri="{BB962C8B-B14F-4D97-AF65-F5344CB8AC3E}">
        <p14:creationId xmlns:p14="http://schemas.microsoft.com/office/powerpoint/2010/main" val="2096068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FE1788-2BFA-4B95-A629-9496E2FFB1BF}" type="datetimeFigureOut">
              <a:rPr lang="en-US" smtClean="0"/>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AC54F4-1AF0-44FE-9F4F-4DE96AFB47BA}" type="slidenum">
              <a:rPr lang="en-US" smtClean="0"/>
              <a:t>‹#›</a:t>
            </a:fld>
            <a:endParaRPr lang="en-US"/>
          </a:p>
        </p:txBody>
      </p:sp>
    </p:spTree>
    <p:extLst>
      <p:ext uri="{BB962C8B-B14F-4D97-AF65-F5344CB8AC3E}">
        <p14:creationId xmlns:p14="http://schemas.microsoft.com/office/powerpoint/2010/main" val="1103414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FE1788-2BFA-4B95-A629-9496E2FFB1BF}" type="datetimeFigureOut">
              <a:rPr lang="en-US" smtClean="0"/>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AC54F4-1AF0-44FE-9F4F-4DE96AFB47BA}"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764797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FE1788-2BFA-4B95-A629-9496E2FFB1BF}" type="datetimeFigureOut">
              <a:rPr lang="en-US" smtClean="0"/>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AC54F4-1AF0-44FE-9F4F-4DE96AFB47BA}" type="slidenum">
              <a:rPr lang="en-US" smtClean="0"/>
              <a:t>‹#›</a:t>
            </a:fld>
            <a:endParaRPr lang="en-US"/>
          </a:p>
        </p:txBody>
      </p:sp>
    </p:spTree>
    <p:extLst>
      <p:ext uri="{BB962C8B-B14F-4D97-AF65-F5344CB8AC3E}">
        <p14:creationId xmlns:p14="http://schemas.microsoft.com/office/powerpoint/2010/main" val="2992865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FE1788-2BFA-4B95-A629-9496E2FFB1BF}" type="datetimeFigureOut">
              <a:rPr lang="en-US" smtClean="0"/>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AC54F4-1AF0-44FE-9F4F-4DE96AFB47BA}"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50756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FE1788-2BFA-4B95-A629-9496E2FFB1BF}" type="datetimeFigureOut">
              <a:rPr lang="en-US" smtClean="0"/>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AC54F4-1AF0-44FE-9F4F-4DE96AFB47BA}" type="slidenum">
              <a:rPr lang="en-US" smtClean="0"/>
              <a:t>‹#›</a:t>
            </a:fld>
            <a:endParaRPr lang="en-US"/>
          </a:p>
        </p:txBody>
      </p:sp>
    </p:spTree>
    <p:extLst>
      <p:ext uri="{BB962C8B-B14F-4D97-AF65-F5344CB8AC3E}">
        <p14:creationId xmlns:p14="http://schemas.microsoft.com/office/powerpoint/2010/main" val="20335601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E1788-2BFA-4B95-A629-9496E2FFB1BF}" type="datetimeFigureOut">
              <a:rPr lang="en-US" smtClean="0"/>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AC54F4-1AF0-44FE-9F4F-4DE96AFB47BA}" type="slidenum">
              <a:rPr lang="en-US" smtClean="0"/>
              <a:t>‹#›</a:t>
            </a:fld>
            <a:endParaRPr lang="en-US"/>
          </a:p>
        </p:txBody>
      </p:sp>
    </p:spTree>
    <p:extLst>
      <p:ext uri="{BB962C8B-B14F-4D97-AF65-F5344CB8AC3E}">
        <p14:creationId xmlns:p14="http://schemas.microsoft.com/office/powerpoint/2010/main" val="32496250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E1788-2BFA-4B95-A629-9496E2FFB1BF}" type="datetimeFigureOut">
              <a:rPr lang="en-US" smtClean="0"/>
              <a:t>7/28/2024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AC54F4-1AF0-44FE-9F4F-4DE96AFB47BA}" type="slidenum">
              <a:rPr lang="en-US" smtClean="0"/>
              <a:t>‹#›</a:t>
            </a:fld>
            <a:endParaRPr lang="en-US"/>
          </a:p>
        </p:txBody>
      </p:sp>
    </p:spTree>
    <p:extLst>
      <p:ext uri="{BB962C8B-B14F-4D97-AF65-F5344CB8AC3E}">
        <p14:creationId xmlns:p14="http://schemas.microsoft.com/office/powerpoint/2010/main" val="1737197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FE1788-2BFA-4B95-A629-9496E2FFB1BF}" type="datetimeFigureOut">
              <a:rPr lang="en-US" smtClean="0"/>
              <a:t>7/28/2024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5AC54F4-1AF0-44FE-9F4F-4DE96AFB47BA}" type="slidenum">
              <a:rPr lang="en-US" smtClean="0"/>
              <a:t>‹#›</a:t>
            </a:fld>
            <a:endParaRPr lang="en-US"/>
          </a:p>
        </p:txBody>
      </p:sp>
    </p:spTree>
    <p:extLst>
      <p:ext uri="{BB962C8B-B14F-4D97-AF65-F5344CB8AC3E}">
        <p14:creationId xmlns:p14="http://schemas.microsoft.com/office/powerpoint/2010/main" val="2716662706"/>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Participate in the Business Development Executive before 08 Jun 22, 12:00 AM IST">
            <a:extLst>
              <a:ext uri="{FF2B5EF4-FFF2-40B4-BE49-F238E27FC236}">
                <a16:creationId xmlns:a16="http://schemas.microsoft.com/office/drawing/2014/main" id="{A01718A9-F6DE-5614-0924-0BFEE800F9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886" y="942592"/>
            <a:ext cx="8414656" cy="271241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384CB7E-877A-17EA-7344-F2823FCEC6BA}"/>
              </a:ext>
            </a:extLst>
          </p:cNvPr>
          <p:cNvSpPr txBox="1"/>
          <p:nvPr/>
        </p:nvSpPr>
        <p:spPr>
          <a:xfrm>
            <a:off x="772886" y="4058703"/>
            <a:ext cx="8828312" cy="707570"/>
          </a:xfrm>
          <a:prstGeom prst="rect">
            <a:avLst/>
          </a:prstGeom>
          <a:noFill/>
        </p:spPr>
        <p:txBody>
          <a:bodyPr wrap="square" rtlCol="0">
            <a:spAutoFit/>
          </a:bodyPr>
          <a:lstStyle/>
          <a:p>
            <a:r>
              <a:rPr lang="en-US" sz="4000" b="1" dirty="0" err="1">
                <a:solidFill>
                  <a:srgbClr val="699841"/>
                </a:solidFill>
                <a:latin typeface="Algerian" panose="04020705040A02060702" pitchFamily="82" charset="0"/>
              </a:rPr>
              <a:t>Freshco</a:t>
            </a:r>
            <a:r>
              <a:rPr lang="en-US" sz="4000" b="1" dirty="0">
                <a:solidFill>
                  <a:srgbClr val="699841"/>
                </a:solidFill>
                <a:latin typeface="Algerian" panose="04020705040A02060702" pitchFamily="82" charset="0"/>
              </a:rPr>
              <a:t> Hypermarket Capstone</a:t>
            </a:r>
          </a:p>
        </p:txBody>
      </p:sp>
      <p:sp>
        <p:nvSpPr>
          <p:cNvPr id="9" name="TextBox 8">
            <a:extLst>
              <a:ext uri="{FF2B5EF4-FFF2-40B4-BE49-F238E27FC236}">
                <a16:creationId xmlns:a16="http://schemas.microsoft.com/office/drawing/2014/main" id="{83AE16B7-ABF6-4D89-5007-632EDD38102F}"/>
              </a:ext>
            </a:extLst>
          </p:cNvPr>
          <p:cNvSpPr txBox="1"/>
          <p:nvPr/>
        </p:nvSpPr>
        <p:spPr>
          <a:xfrm>
            <a:off x="87085" y="5915798"/>
            <a:ext cx="3320143" cy="707886"/>
          </a:xfrm>
          <a:prstGeom prst="rect">
            <a:avLst/>
          </a:prstGeom>
          <a:noFill/>
        </p:spPr>
        <p:txBody>
          <a:bodyPr wrap="square" rtlCol="0">
            <a:spAutoFit/>
          </a:bodyPr>
          <a:lstStyle/>
          <a:p>
            <a:r>
              <a:rPr lang="en-US" sz="2000" b="1" dirty="0">
                <a:latin typeface="Arial Black" panose="020B0A04020102020204" pitchFamily="34" charset="0"/>
              </a:rPr>
              <a:t>Presented By:</a:t>
            </a:r>
          </a:p>
          <a:p>
            <a:r>
              <a:rPr lang="en-US" sz="2000" b="1" dirty="0">
                <a:latin typeface="Arial Black" panose="020B0A04020102020204" pitchFamily="34" charset="0"/>
              </a:rPr>
              <a:t>Alok Kumar Patel</a:t>
            </a:r>
          </a:p>
        </p:txBody>
      </p:sp>
      <p:sp>
        <p:nvSpPr>
          <p:cNvPr id="10" name="TextBox 9">
            <a:extLst>
              <a:ext uri="{FF2B5EF4-FFF2-40B4-BE49-F238E27FC236}">
                <a16:creationId xmlns:a16="http://schemas.microsoft.com/office/drawing/2014/main" id="{C72F606C-A2D8-0EFC-D071-83019838455D}"/>
              </a:ext>
            </a:extLst>
          </p:cNvPr>
          <p:cNvSpPr txBox="1"/>
          <p:nvPr/>
        </p:nvSpPr>
        <p:spPr>
          <a:xfrm>
            <a:off x="9329056" y="6269741"/>
            <a:ext cx="3265715" cy="400110"/>
          </a:xfrm>
          <a:prstGeom prst="rect">
            <a:avLst/>
          </a:prstGeom>
          <a:noFill/>
        </p:spPr>
        <p:txBody>
          <a:bodyPr wrap="square" rtlCol="0">
            <a:spAutoFit/>
          </a:bodyPr>
          <a:lstStyle/>
          <a:p>
            <a:r>
              <a:rPr lang="en-US" sz="2000" b="1" dirty="0">
                <a:latin typeface="Arial Black" panose="020B0A04020102020204" pitchFamily="34" charset="0"/>
              </a:rPr>
              <a:t>Date: 28/07/2024</a:t>
            </a:r>
          </a:p>
        </p:txBody>
      </p:sp>
    </p:spTree>
    <p:extLst>
      <p:ext uri="{BB962C8B-B14F-4D97-AF65-F5344CB8AC3E}">
        <p14:creationId xmlns:p14="http://schemas.microsoft.com/office/powerpoint/2010/main" val="270095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CFABE3-6143-FFB5-E4EA-B0F955244375}"/>
              </a:ext>
            </a:extLst>
          </p:cNvPr>
          <p:cNvSpPr txBox="1"/>
          <p:nvPr/>
        </p:nvSpPr>
        <p:spPr>
          <a:xfrm>
            <a:off x="601436" y="1284906"/>
            <a:ext cx="2087335" cy="461665"/>
          </a:xfrm>
          <a:prstGeom prst="rect">
            <a:avLst/>
          </a:prstGeom>
          <a:noFill/>
        </p:spPr>
        <p:txBody>
          <a:bodyPr wrap="square">
            <a:spAutoFit/>
          </a:bodyPr>
          <a:lstStyle/>
          <a:p>
            <a:r>
              <a:rPr lang="en-US" sz="2400" b="1" dirty="0">
                <a:solidFill>
                  <a:srgbClr val="699841"/>
                </a:solidFill>
                <a:latin typeface="Arial Black" panose="020B0A04020102020204" pitchFamily="34" charset="0"/>
              </a:rPr>
              <a:t>Contents:</a:t>
            </a:r>
          </a:p>
        </p:txBody>
      </p:sp>
      <p:sp>
        <p:nvSpPr>
          <p:cNvPr id="5" name="TextBox 4">
            <a:extLst>
              <a:ext uri="{FF2B5EF4-FFF2-40B4-BE49-F238E27FC236}">
                <a16:creationId xmlns:a16="http://schemas.microsoft.com/office/drawing/2014/main" id="{AC5DE315-292A-658A-6A87-5C41D39EB8B5}"/>
              </a:ext>
            </a:extLst>
          </p:cNvPr>
          <p:cNvSpPr txBox="1"/>
          <p:nvPr/>
        </p:nvSpPr>
        <p:spPr>
          <a:xfrm>
            <a:off x="601436" y="2218896"/>
            <a:ext cx="6101442" cy="2247154"/>
          </a:xfrm>
          <a:prstGeom prst="rect">
            <a:avLst/>
          </a:prstGeom>
          <a:noFill/>
        </p:spPr>
        <p:txBody>
          <a:bodyPr wrap="square">
            <a:spAutoFit/>
          </a:bodyPr>
          <a:lstStyle/>
          <a:p>
            <a:pPr marL="342900" marR="0" indent="-342900">
              <a:lnSpc>
                <a:spcPct val="107000"/>
              </a:lnSpc>
              <a:spcBef>
                <a:spcPts val="0"/>
              </a:spcBef>
              <a:spcAft>
                <a:spcPts val="0"/>
              </a:spcAft>
              <a:buAutoNum type="arabicPeriod"/>
            </a:pPr>
            <a:r>
              <a:rPr lang="en-US" sz="1800" kern="0" dirty="0" err="1">
                <a:solidFill>
                  <a:srgbClr val="292929"/>
                </a:solidFill>
                <a:effectLst/>
                <a:highlight>
                  <a:srgbClr val="FFFFFF"/>
                </a:highlight>
                <a:ea typeface="Times New Roman" panose="02020603050405020304" pitchFamily="18" charset="0"/>
                <a:cs typeface="Times New Roman" panose="02020603050405020304" pitchFamily="18" charset="0"/>
              </a:rPr>
              <a:t>Freshco</a:t>
            </a:r>
            <a:r>
              <a:rPr lang="en-US" sz="1800" kern="0" dirty="0">
                <a:solidFill>
                  <a:srgbClr val="292929"/>
                </a:solidFill>
                <a:effectLst/>
                <a:highlight>
                  <a:srgbClr val="FFFFFF"/>
                </a:highlight>
                <a:ea typeface="Times New Roman" panose="02020603050405020304" pitchFamily="18" charset="0"/>
                <a:cs typeface="Times New Roman" panose="02020603050405020304" pitchFamily="18" charset="0"/>
              </a:rPr>
              <a:t> Hypermarket Capstone Analysis</a:t>
            </a:r>
          </a:p>
          <a:p>
            <a:pPr marL="342900" marR="0" indent="-342900">
              <a:lnSpc>
                <a:spcPct val="107000"/>
              </a:lnSpc>
              <a:spcBef>
                <a:spcPts val="0"/>
              </a:spcBef>
              <a:spcAft>
                <a:spcPts val="0"/>
              </a:spcAft>
              <a:buAutoNum type="arabicPeriod"/>
            </a:pPr>
            <a:r>
              <a:rPr lang="en-US" kern="0" dirty="0">
                <a:solidFill>
                  <a:srgbClr val="292929"/>
                </a:solidFill>
                <a:highlight>
                  <a:srgbClr val="FFFFFF"/>
                </a:highlight>
                <a:ea typeface="Calibri" panose="020F0502020204030204" pitchFamily="34" charset="0"/>
                <a:cs typeface="Times New Roman" panose="02020603050405020304" pitchFamily="18" charset="0"/>
              </a:rPr>
              <a:t>Objectives</a:t>
            </a:r>
          </a:p>
          <a:p>
            <a:pPr marL="342900" marR="0" indent="-342900">
              <a:lnSpc>
                <a:spcPct val="107000"/>
              </a:lnSpc>
              <a:spcBef>
                <a:spcPts val="0"/>
              </a:spcBef>
              <a:spcAft>
                <a:spcPts val="0"/>
              </a:spcAft>
              <a:buAutoNum type="arabicPeriod"/>
            </a:pPr>
            <a:r>
              <a:rPr lang="en-US" sz="1600" dirty="0"/>
              <a:t>Order Level Analysis</a:t>
            </a:r>
            <a:endParaRPr lang="en-US" sz="1600" kern="0" dirty="0">
              <a:solidFill>
                <a:srgbClr val="292929"/>
              </a:solidFill>
              <a:highlight>
                <a:srgbClr val="FFFFFF"/>
              </a:highlight>
              <a:ea typeface="Calibri" panose="020F0502020204030204" pitchFamily="34" charset="0"/>
              <a:cs typeface="Times New Roman" panose="02020603050405020304" pitchFamily="18" charset="0"/>
            </a:endParaRPr>
          </a:p>
          <a:p>
            <a:pPr marL="342900" marR="0" indent="-342900">
              <a:lnSpc>
                <a:spcPct val="107000"/>
              </a:lnSpc>
              <a:spcBef>
                <a:spcPts val="0"/>
              </a:spcBef>
              <a:spcAft>
                <a:spcPts val="0"/>
              </a:spcAft>
              <a:buAutoNum type="arabicPeriod"/>
            </a:pPr>
            <a:r>
              <a:rPr lang="en-US" sz="1600" dirty="0"/>
              <a:t>Completion Rate Analysis</a:t>
            </a:r>
            <a:endParaRPr lang="en-US" sz="1600" kern="0" dirty="0">
              <a:solidFill>
                <a:srgbClr val="292929"/>
              </a:solidFill>
              <a:highlight>
                <a:srgbClr val="FFFFFF"/>
              </a:highlight>
              <a:ea typeface="Calibri" panose="020F0502020204030204" pitchFamily="34" charset="0"/>
              <a:cs typeface="Times New Roman" panose="02020603050405020304" pitchFamily="18" charset="0"/>
            </a:endParaRPr>
          </a:p>
          <a:p>
            <a:pPr marL="342900" marR="0" indent="-342900">
              <a:lnSpc>
                <a:spcPct val="107000"/>
              </a:lnSpc>
              <a:spcBef>
                <a:spcPts val="0"/>
              </a:spcBef>
              <a:spcAft>
                <a:spcPts val="0"/>
              </a:spcAft>
              <a:buAutoNum type="arabicPeriod"/>
            </a:pPr>
            <a:r>
              <a:rPr lang="en-US" sz="1600" dirty="0"/>
              <a:t>Customer Level Analysis</a:t>
            </a:r>
            <a:endParaRPr lang="en-US" sz="1600" kern="0" dirty="0">
              <a:solidFill>
                <a:srgbClr val="292929"/>
              </a:solidFill>
              <a:highlight>
                <a:srgbClr val="FFFFFF"/>
              </a:highlight>
              <a:ea typeface="Calibri" panose="020F0502020204030204" pitchFamily="34" charset="0"/>
              <a:cs typeface="Times New Roman" panose="02020603050405020304" pitchFamily="18" charset="0"/>
            </a:endParaRPr>
          </a:p>
          <a:p>
            <a:pPr marL="342900" marR="0" indent="-342900">
              <a:lnSpc>
                <a:spcPct val="107000"/>
              </a:lnSpc>
              <a:spcBef>
                <a:spcPts val="0"/>
              </a:spcBef>
              <a:spcAft>
                <a:spcPts val="0"/>
              </a:spcAft>
              <a:buAutoNum type="arabicPeriod"/>
            </a:pPr>
            <a:r>
              <a:rPr lang="en-US" sz="1600" dirty="0"/>
              <a:t>Delivery Analysis</a:t>
            </a:r>
            <a:endParaRPr lang="en-US" sz="1600" b="1" kern="0" dirty="0">
              <a:solidFill>
                <a:srgbClr val="292929"/>
              </a:solidFill>
              <a:highlight>
                <a:srgbClr val="FFFFFF"/>
              </a:highlight>
              <a:ea typeface="Calibri" panose="020F0502020204030204" pitchFamily="34" charset="0"/>
              <a:cs typeface="Times New Roman" panose="02020603050405020304" pitchFamily="18" charset="0"/>
            </a:endParaRPr>
          </a:p>
          <a:p>
            <a:pPr marL="342900" marR="0" indent="-342900">
              <a:lnSpc>
                <a:spcPct val="107000"/>
              </a:lnSpc>
              <a:spcBef>
                <a:spcPts val="0"/>
              </a:spcBef>
              <a:spcAft>
                <a:spcPts val="0"/>
              </a:spcAft>
              <a:buAutoNum type="arabicPeriod"/>
            </a:pPr>
            <a:r>
              <a:rPr lang="en-US" sz="1600" dirty="0"/>
              <a:t>Conclusion</a:t>
            </a:r>
            <a:endParaRPr lang="en-US" sz="1600" b="1" kern="0" dirty="0">
              <a:solidFill>
                <a:srgbClr val="292929"/>
              </a:solidFill>
              <a:highlight>
                <a:srgbClr val="FFFFFF"/>
              </a:highlight>
              <a:ea typeface="Calibri" panose="020F0502020204030204" pitchFamily="34" charset="0"/>
              <a:cs typeface="Times New Roman" panose="02020603050405020304" pitchFamily="18" charset="0"/>
            </a:endParaRPr>
          </a:p>
          <a:p>
            <a:pPr marL="342900" marR="0" indent="-342900">
              <a:lnSpc>
                <a:spcPct val="107000"/>
              </a:lnSpc>
              <a:spcBef>
                <a:spcPts val="0"/>
              </a:spcBef>
              <a:spcAft>
                <a:spcPts val="0"/>
              </a:spcAft>
              <a:buAutoNum type="arabicPeriod"/>
            </a:pPr>
            <a:r>
              <a:rPr lang="en-US" sz="1600" dirty="0"/>
              <a:t>Thank You slide</a:t>
            </a:r>
            <a:endParaRPr lang="en-US" sz="1600" b="1" kern="100" dirty="0">
              <a:effectLst/>
              <a:highlight>
                <a:srgbClr val="FFFFFF"/>
              </a:highlight>
              <a:ea typeface="Calibri" panose="020F0502020204030204" pitchFamily="34" charset="0"/>
              <a:cs typeface="Times New Roman" panose="02020603050405020304" pitchFamily="18" charset="0"/>
            </a:endParaRPr>
          </a:p>
        </p:txBody>
      </p:sp>
      <p:pic>
        <p:nvPicPr>
          <p:cNvPr id="3074" name="Picture 2">
            <a:extLst>
              <a:ext uri="{FF2B5EF4-FFF2-40B4-BE49-F238E27FC236}">
                <a16:creationId xmlns:a16="http://schemas.microsoft.com/office/drawing/2014/main" id="{AE5F6C41-82D5-00B6-21E4-E6F9103CF1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9570" y="1515738"/>
            <a:ext cx="3733801"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9701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4E2648-6BD4-0CF5-89E1-46D68D27753D}"/>
              </a:ext>
            </a:extLst>
          </p:cNvPr>
          <p:cNvSpPr txBox="1"/>
          <p:nvPr/>
        </p:nvSpPr>
        <p:spPr>
          <a:xfrm>
            <a:off x="859970" y="2661153"/>
            <a:ext cx="8447315" cy="1857368"/>
          </a:xfrm>
          <a:prstGeom prst="rect">
            <a:avLst/>
          </a:prstGeom>
          <a:noFill/>
        </p:spPr>
        <p:txBody>
          <a:bodyPr wrap="square">
            <a:spAutoFit/>
          </a:bodyPr>
          <a:lstStyle/>
          <a:p>
            <a:pPr marL="0" marR="0">
              <a:lnSpc>
                <a:spcPct val="107000"/>
              </a:lnSpc>
              <a:spcBef>
                <a:spcPts val="0"/>
              </a:spcBef>
              <a:spcAft>
                <a:spcPts val="1200"/>
              </a:spcAft>
            </a:pPr>
            <a:r>
              <a:rPr lang="en-US" sz="1800" b="1" kern="0" dirty="0" err="1">
                <a:solidFill>
                  <a:srgbClr val="202B45"/>
                </a:solidFill>
                <a:effectLst/>
                <a:highlight>
                  <a:srgbClr val="FFFFFF"/>
                </a:highlight>
                <a:latin typeface="Calibri" panose="020F0502020204030204" pitchFamily="34" charset="0"/>
                <a:ea typeface="Times New Roman" panose="02020603050405020304" pitchFamily="18" charset="0"/>
                <a:cs typeface="Calibri" panose="020F0502020204030204" pitchFamily="34" charset="0"/>
              </a:rPr>
              <a:t>Freshco</a:t>
            </a:r>
            <a:r>
              <a:rPr lang="en-US" sz="1800" b="1" kern="0" dirty="0">
                <a:solidFill>
                  <a:srgbClr val="202B45"/>
                </a:solidFill>
                <a:effectLst/>
                <a:highlight>
                  <a:srgbClr val="FFFFFF"/>
                </a:highlight>
                <a:latin typeface="Calibri" panose="020F0502020204030204" pitchFamily="34" charset="0"/>
                <a:ea typeface="Times New Roman" panose="02020603050405020304" pitchFamily="18" charset="0"/>
                <a:cs typeface="Calibri" panose="020F0502020204030204" pitchFamily="34" charset="0"/>
              </a:rPr>
              <a:t> Hypermarket, situated in HSR, Bangalore, has established itself as a prominent supermarket in the region, catering to a wide range of customers. In response to evolving customer needs and to enhance convenience, </a:t>
            </a:r>
            <a:r>
              <a:rPr lang="en-US" sz="1800" b="1" kern="0" dirty="0" err="1">
                <a:solidFill>
                  <a:srgbClr val="202B45"/>
                </a:solidFill>
                <a:effectLst/>
                <a:highlight>
                  <a:srgbClr val="FFFFFF"/>
                </a:highlight>
                <a:latin typeface="Calibri" panose="020F0502020204030204" pitchFamily="34" charset="0"/>
                <a:ea typeface="Times New Roman" panose="02020603050405020304" pitchFamily="18" charset="0"/>
                <a:cs typeface="Calibri" panose="020F0502020204030204" pitchFamily="34" charset="0"/>
              </a:rPr>
              <a:t>Freshco</a:t>
            </a:r>
            <a:r>
              <a:rPr lang="en-US" sz="1800" b="1" kern="0" dirty="0">
                <a:solidFill>
                  <a:srgbClr val="202B45"/>
                </a:solidFill>
                <a:effectLst/>
                <a:highlight>
                  <a:srgbClr val="FFFFFF"/>
                </a:highlight>
                <a:latin typeface="Calibri" panose="020F0502020204030204" pitchFamily="34" charset="0"/>
                <a:ea typeface="Times New Roman" panose="02020603050405020304" pitchFamily="18" charset="0"/>
                <a:cs typeface="Calibri" panose="020F0502020204030204" pitchFamily="34" charset="0"/>
              </a:rPr>
              <a:t> introduced a home delivery service in the year 2021. To ensure seamless operations and optimize customer satisfaction, the store diligently maintained a comprehensive transaction data sheet, containing detailed information at the order level.</a:t>
            </a:r>
            <a:endParaRPr lang="en-US" sz="1800" b="1"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3487FFF3-B307-DCE6-CEE9-CE09115ACD79}"/>
              </a:ext>
            </a:extLst>
          </p:cNvPr>
          <p:cNvSpPr txBox="1"/>
          <p:nvPr/>
        </p:nvSpPr>
        <p:spPr>
          <a:xfrm>
            <a:off x="1421945" y="1677626"/>
            <a:ext cx="7323363" cy="469809"/>
          </a:xfrm>
          <a:prstGeom prst="rect">
            <a:avLst/>
          </a:prstGeom>
          <a:noFill/>
        </p:spPr>
        <p:txBody>
          <a:bodyPr wrap="square">
            <a:spAutoFit/>
          </a:bodyPr>
          <a:lstStyle/>
          <a:p>
            <a:pPr marR="0">
              <a:lnSpc>
                <a:spcPct val="107000"/>
              </a:lnSpc>
              <a:spcBef>
                <a:spcPts val="0"/>
              </a:spcBef>
              <a:spcAft>
                <a:spcPts val="0"/>
              </a:spcAft>
            </a:pPr>
            <a:r>
              <a:rPr lang="en-US" sz="2400" b="1" kern="0" dirty="0" err="1">
                <a:solidFill>
                  <a:srgbClr val="699841"/>
                </a:solidFill>
                <a:effectLst/>
                <a:highlight>
                  <a:srgbClr val="FFFFFF"/>
                </a:highlight>
                <a:latin typeface="Arial Black" panose="020B0A04020102020204" pitchFamily="34" charset="0"/>
                <a:ea typeface="Times New Roman" panose="02020603050405020304" pitchFamily="18" charset="0"/>
                <a:cs typeface="Times New Roman" panose="02020603050405020304" pitchFamily="18" charset="0"/>
              </a:rPr>
              <a:t>Freshco</a:t>
            </a:r>
            <a:r>
              <a:rPr lang="en-US" sz="2400" b="1" kern="0" dirty="0">
                <a:solidFill>
                  <a:srgbClr val="699841"/>
                </a:solidFill>
                <a:effectLst/>
                <a:highlight>
                  <a:srgbClr val="FFFFFF"/>
                </a:highlight>
                <a:latin typeface="Arial Black" panose="020B0A04020102020204" pitchFamily="34" charset="0"/>
                <a:ea typeface="Times New Roman" panose="02020603050405020304" pitchFamily="18" charset="0"/>
                <a:cs typeface="Times New Roman" panose="02020603050405020304" pitchFamily="18" charset="0"/>
              </a:rPr>
              <a:t> Hypermarket Capstone Analysis</a:t>
            </a:r>
          </a:p>
        </p:txBody>
      </p:sp>
    </p:spTree>
    <p:extLst>
      <p:ext uri="{BB962C8B-B14F-4D97-AF65-F5344CB8AC3E}">
        <p14:creationId xmlns:p14="http://schemas.microsoft.com/office/powerpoint/2010/main" val="405839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470F90-37FA-1980-A3DB-30D41F776E9F}"/>
              </a:ext>
            </a:extLst>
          </p:cNvPr>
          <p:cNvSpPr txBox="1"/>
          <p:nvPr/>
        </p:nvSpPr>
        <p:spPr>
          <a:xfrm>
            <a:off x="555171" y="1433700"/>
            <a:ext cx="2906486" cy="461665"/>
          </a:xfrm>
          <a:prstGeom prst="rect">
            <a:avLst/>
          </a:prstGeom>
          <a:noFill/>
        </p:spPr>
        <p:txBody>
          <a:bodyPr wrap="square" rtlCol="0">
            <a:spAutoFit/>
          </a:bodyPr>
          <a:lstStyle/>
          <a:p>
            <a:r>
              <a:rPr lang="en-US" sz="2400" b="1" dirty="0">
                <a:solidFill>
                  <a:srgbClr val="699841"/>
                </a:solidFill>
                <a:latin typeface="Arial Black" panose="020B0A04020102020204" pitchFamily="34" charset="0"/>
              </a:rPr>
              <a:t>Objectives:</a:t>
            </a:r>
          </a:p>
        </p:txBody>
      </p:sp>
      <p:sp>
        <p:nvSpPr>
          <p:cNvPr id="9" name="Rectangle 5">
            <a:extLst>
              <a:ext uri="{FF2B5EF4-FFF2-40B4-BE49-F238E27FC236}">
                <a16:creationId xmlns:a16="http://schemas.microsoft.com/office/drawing/2014/main" id="{104042C7-5FAB-47E0-D34C-7706C4AE57AD}"/>
              </a:ext>
            </a:extLst>
          </p:cNvPr>
          <p:cNvSpPr>
            <a:spLocks noChangeArrowheads="1"/>
          </p:cNvSpPr>
          <p:nvPr/>
        </p:nvSpPr>
        <p:spPr bwMode="auto">
          <a:xfrm>
            <a:off x="555171" y="1895365"/>
            <a:ext cx="7479933"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Analyze order patterns and customer behavior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Identify factors affecting completion rates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Evaluate customer lifetime value and acquisition effectiveness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Assess and optimize delivery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Provide data-driven recommendations for service improvement </a:t>
            </a:r>
          </a:p>
        </p:txBody>
      </p:sp>
      <p:pic>
        <p:nvPicPr>
          <p:cNvPr id="10" name="Picture 9">
            <a:extLst>
              <a:ext uri="{FF2B5EF4-FFF2-40B4-BE49-F238E27FC236}">
                <a16:creationId xmlns:a16="http://schemas.microsoft.com/office/drawing/2014/main" id="{22D5FBB1-D2C5-FE14-E9E6-20F00C3116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4065" y="4265245"/>
            <a:ext cx="4082144" cy="2026698"/>
          </a:xfrm>
          <a:prstGeom prst="rect">
            <a:avLst/>
          </a:prstGeom>
        </p:spPr>
      </p:pic>
    </p:spTree>
    <p:extLst>
      <p:ext uri="{BB962C8B-B14F-4D97-AF65-F5344CB8AC3E}">
        <p14:creationId xmlns:p14="http://schemas.microsoft.com/office/powerpoint/2010/main" val="2300717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89310F8-8951-213C-8F46-F7710018C289}"/>
              </a:ext>
            </a:extLst>
          </p:cNvPr>
          <p:cNvSpPr txBox="1"/>
          <p:nvPr/>
        </p:nvSpPr>
        <p:spPr>
          <a:xfrm>
            <a:off x="340179" y="966847"/>
            <a:ext cx="6101442" cy="469809"/>
          </a:xfrm>
          <a:prstGeom prst="rect">
            <a:avLst/>
          </a:prstGeom>
          <a:noFill/>
        </p:spPr>
        <p:txBody>
          <a:bodyPr wrap="square">
            <a:spAutoFit/>
          </a:bodyPr>
          <a:lstStyle/>
          <a:p>
            <a:pPr marL="0" marR="0">
              <a:lnSpc>
                <a:spcPct val="107000"/>
              </a:lnSpc>
              <a:spcBef>
                <a:spcPts val="0"/>
              </a:spcBef>
              <a:spcAft>
                <a:spcPts val="1200"/>
              </a:spcAft>
            </a:pPr>
            <a:r>
              <a:rPr lang="en-US" sz="2400" b="1" kern="0" dirty="0">
                <a:solidFill>
                  <a:srgbClr val="699841"/>
                </a:solidFill>
                <a:effectLst/>
                <a:highlight>
                  <a:srgbClr val="FFFFFF"/>
                </a:highlight>
                <a:latin typeface="Arial Black" panose="020B0A04020102020204" pitchFamily="34" charset="0"/>
                <a:ea typeface="Times New Roman" panose="02020603050405020304" pitchFamily="18" charset="0"/>
                <a:cs typeface="Times New Roman" panose="02020603050405020304" pitchFamily="18" charset="0"/>
              </a:rPr>
              <a:t>Order level Analysis:</a:t>
            </a:r>
            <a:endParaRPr lang="en-US" sz="2000" kern="100" dirty="0">
              <a:solidFill>
                <a:srgbClr val="699841"/>
              </a:solidFill>
              <a:effectLst/>
              <a:highlight>
                <a:srgbClr val="FFFFFF"/>
              </a:highlight>
              <a:latin typeface="Arial Black" panose="020B0A04020102020204" pitchFamily="34" charset="0"/>
              <a:ea typeface="Calibri" panose="020F0502020204030204" pitchFamily="34" charset="0"/>
              <a:cs typeface="Times New Roman" panose="02020603050405020304" pitchFamily="18" charset="0"/>
            </a:endParaRPr>
          </a:p>
        </p:txBody>
      </p:sp>
      <p:graphicFrame>
        <p:nvGraphicFramePr>
          <p:cNvPr id="7" name="Chart 6">
            <a:extLst>
              <a:ext uri="{FF2B5EF4-FFF2-40B4-BE49-F238E27FC236}">
                <a16:creationId xmlns:a16="http://schemas.microsoft.com/office/drawing/2014/main" id="{81729367-B51B-AF4A-87B8-8869813AAE37}"/>
              </a:ext>
            </a:extLst>
          </p:cNvPr>
          <p:cNvGraphicFramePr/>
          <p:nvPr>
            <p:extLst>
              <p:ext uri="{D42A27DB-BD31-4B8C-83A1-F6EECF244321}">
                <p14:modId xmlns:p14="http://schemas.microsoft.com/office/powerpoint/2010/main" val="3702874356"/>
              </p:ext>
            </p:extLst>
          </p:nvPr>
        </p:nvGraphicFramePr>
        <p:xfrm>
          <a:off x="665389" y="2064702"/>
          <a:ext cx="7173686" cy="2979745"/>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34F28151-DE9A-F0EC-A176-EB1F61377367}"/>
              </a:ext>
            </a:extLst>
          </p:cNvPr>
          <p:cNvSpPr txBox="1"/>
          <p:nvPr/>
        </p:nvSpPr>
        <p:spPr>
          <a:xfrm>
            <a:off x="503465" y="5044447"/>
            <a:ext cx="7497535" cy="1693412"/>
          </a:xfrm>
          <a:prstGeom prst="rect">
            <a:avLst/>
          </a:prstGeom>
          <a:noFill/>
        </p:spPr>
        <p:txBody>
          <a:bodyPr wrap="square">
            <a:spAutoFit/>
          </a:bodyPr>
          <a:lstStyle/>
          <a:p>
            <a:pPr marL="342900" marR="0" lvl="0" indent="-342900">
              <a:lnSpc>
                <a:spcPct val="107000"/>
              </a:lnSpc>
              <a:spcBef>
                <a:spcPts val="0"/>
              </a:spcBef>
              <a:spcAft>
                <a:spcPts val="1200"/>
              </a:spcAft>
              <a:buFont typeface="+mj-lt"/>
              <a:buAutoNum type="romanLcParenR"/>
            </a:pPr>
            <a:r>
              <a:rPr lang="en-US" sz="1800" b="1" kern="0" dirty="0">
                <a:solidFill>
                  <a:srgbClr val="202B45"/>
                </a:solidFill>
                <a:effectLst/>
                <a:highlight>
                  <a:srgbClr val="FFFFFF"/>
                </a:highlight>
                <a:latin typeface="Calibri" panose="020F0502020204030204" pitchFamily="34" charset="0"/>
                <a:ea typeface="Times New Roman" panose="02020603050405020304" pitchFamily="18" charset="0"/>
                <a:cs typeface="Calibri" panose="020F0502020204030204" pitchFamily="34" charset="0"/>
              </a:rPr>
              <a:t>Afternoon is the peak slot as most of the orders coming in afternoon. </a:t>
            </a:r>
            <a:endParaRPr lang="en-US" sz="1600" b="1"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0"/>
              </a:spcAft>
              <a:buFont typeface="+mj-lt"/>
              <a:buAutoNum type="romanLcParenR"/>
            </a:pPr>
            <a:r>
              <a:rPr lang="en-US" sz="1800" b="1" kern="0" dirty="0">
                <a:solidFill>
                  <a:srgbClr val="202B45"/>
                </a:solidFill>
                <a:effectLst/>
                <a:highlight>
                  <a:srgbClr val="FFFFFF"/>
                </a:highlight>
                <a:latin typeface="Calibri" panose="020F0502020204030204" pitchFamily="34" charset="0"/>
                <a:ea typeface="Times New Roman" panose="02020603050405020304" pitchFamily="18" charset="0"/>
                <a:cs typeface="Calibri" panose="020F0502020204030204" pitchFamily="34" charset="0"/>
              </a:rPr>
              <a:t>There is less order in Late Night.</a:t>
            </a:r>
            <a:endParaRPr lang="en-US" sz="1600" b="1"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0"/>
              </a:spcAft>
              <a:buFont typeface="+mj-lt"/>
              <a:buAutoNum type="romanLcParenR"/>
            </a:pPr>
            <a:r>
              <a:rPr lang="en-US" sz="1600" b="1" kern="100" dirty="0">
                <a:solidFill>
                  <a:srgbClr val="00000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rPr>
              <a:t>In HSR Layout got highest order for all time slot.</a:t>
            </a:r>
            <a:endParaRPr lang="en-US" sz="1600" b="1"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0"/>
              </a:spcAft>
              <a:buFont typeface="+mj-lt"/>
              <a:buAutoNum type="romanLcParenR"/>
            </a:pPr>
            <a:r>
              <a:rPr lang="en-US" sz="1800" b="1" kern="0" dirty="0">
                <a:solidFill>
                  <a:srgbClr val="202B45"/>
                </a:solidFill>
                <a:effectLst/>
                <a:highlight>
                  <a:srgbClr val="FFFFFF"/>
                </a:highlight>
                <a:latin typeface="Calibri" panose="020F0502020204030204" pitchFamily="34" charset="0"/>
                <a:ea typeface="Times New Roman" panose="02020603050405020304" pitchFamily="18" charset="0"/>
                <a:cs typeface="Calibri" panose="020F0502020204030204" pitchFamily="34" charset="0"/>
              </a:rPr>
              <a:t>In ITI Layout got second highest order for all time slot</a:t>
            </a:r>
            <a:endParaRPr lang="en-US" sz="1600" b="1"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D8C5F22A-4F4E-749B-474B-3935AF8E5A48}"/>
              </a:ext>
            </a:extLst>
          </p:cNvPr>
          <p:cNvSpPr txBox="1"/>
          <p:nvPr/>
        </p:nvSpPr>
        <p:spPr>
          <a:xfrm>
            <a:off x="-541563" y="1570335"/>
            <a:ext cx="7889420" cy="407035"/>
          </a:xfrm>
          <a:prstGeom prst="rect">
            <a:avLst/>
          </a:prstGeom>
          <a:noFill/>
        </p:spPr>
        <p:txBody>
          <a:bodyPr wrap="square">
            <a:spAutoFit/>
          </a:bodyPr>
          <a:lstStyle/>
          <a:p>
            <a:pPr marL="1143000" marR="0" lvl="2" indent="-228600">
              <a:lnSpc>
                <a:spcPct val="107000"/>
              </a:lnSpc>
              <a:spcBef>
                <a:spcPts val="0"/>
              </a:spcBef>
              <a:spcAft>
                <a:spcPts val="1200"/>
              </a:spcAft>
              <a:buFont typeface="+mj-lt"/>
              <a:buAutoNum type="arabicPeriod"/>
            </a:pPr>
            <a:r>
              <a:rPr lang="en-US" sz="2000" b="1" kern="0" dirty="0">
                <a:solidFill>
                  <a:srgbClr val="00B050"/>
                </a:solidFill>
                <a:effectLst/>
                <a:highlight>
                  <a:srgbClr val="FFFFFF"/>
                </a:highlight>
                <a:latin typeface="Calibri" panose="020F0502020204030204" pitchFamily="34" charset="0"/>
                <a:ea typeface="Times New Roman" panose="02020603050405020304" pitchFamily="18" charset="0"/>
                <a:cs typeface="Calibri" panose="020F0502020204030204" pitchFamily="34" charset="0"/>
              </a:rPr>
              <a:t>Identify order distribution at slot and delivery area level:</a:t>
            </a:r>
            <a:endParaRPr lang="en-US" kern="100" dirty="0">
              <a:solidFill>
                <a:srgbClr val="00B05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75429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7CFC0D35-BE04-A091-72AB-7E5CD5985DF8}"/>
              </a:ext>
            </a:extLst>
          </p:cNvPr>
          <p:cNvGraphicFramePr/>
          <p:nvPr>
            <p:extLst>
              <p:ext uri="{D42A27DB-BD31-4B8C-83A1-F6EECF244321}">
                <p14:modId xmlns:p14="http://schemas.microsoft.com/office/powerpoint/2010/main" val="759333558"/>
              </p:ext>
            </p:extLst>
          </p:nvPr>
        </p:nvGraphicFramePr>
        <p:xfrm>
          <a:off x="840919" y="1197429"/>
          <a:ext cx="7697107" cy="2819398"/>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F5041F6A-7C74-1FFB-A4D2-BB54B572190B}"/>
              </a:ext>
            </a:extLst>
          </p:cNvPr>
          <p:cNvSpPr txBox="1"/>
          <p:nvPr/>
        </p:nvSpPr>
        <p:spPr>
          <a:xfrm>
            <a:off x="572405" y="4483050"/>
            <a:ext cx="7965621" cy="2013500"/>
          </a:xfrm>
          <a:prstGeom prst="rect">
            <a:avLst/>
          </a:prstGeom>
          <a:noFill/>
        </p:spPr>
        <p:txBody>
          <a:bodyPr wrap="square">
            <a:spAutoFit/>
          </a:bodyPr>
          <a:lstStyle/>
          <a:p>
            <a:pPr marL="342900" marR="0" lvl="0" indent="-342900">
              <a:lnSpc>
                <a:spcPct val="107000"/>
              </a:lnSpc>
              <a:spcBef>
                <a:spcPts val="0"/>
              </a:spcBef>
              <a:spcAft>
                <a:spcPts val="1200"/>
              </a:spcAft>
              <a:buFont typeface="+mj-lt"/>
              <a:buAutoNum type="romanLcParenR"/>
            </a:pPr>
            <a:r>
              <a:rPr lang="en-US" sz="1600" b="1" kern="100" dirty="0">
                <a:solidFill>
                  <a:srgbClr val="00000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rPr>
              <a:t>The delivery charges are the highest in the month of January.</a:t>
            </a:r>
            <a:endParaRPr lang="en-US" sz="1600" b="1"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0"/>
              </a:spcAft>
              <a:buFont typeface="+mj-lt"/>
              <a:buAutoNum type="romanLcParenR"/>
            </a:pPr>
            <a:r>
              <a:rPr lang="en-US" sz="1600" b="1" kern="100" dirty="0">
                <a:solidFill>
                  <a:srgbClr val="00000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rPr>
              <a:t>The delivery charges were the highest during late nights in the month of July.</a:t>
            </a:r>
            <a:endParaRPr lang="en-US" sz="1600" b="1"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0"/>
              </a:spcAft>
              <a:buFont typeface="+mj-lt"/>
              <a:buAutoNum type="romanLcParenR"/>
            </a:pPr>
            <a:r>
              <a:rPr lang="en-US" sz="1600" b="1" kern="100" dirty="0">
                <a:solidFill>
                  <a:srgbClr val="00000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rPr>
              <a:t>The delivery charges are the highest in the late night.</a:t>
            </a:r>
            <a:endParaRPr lang="en-US" sz="1600" b="1"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0"/>
              </a:spcAft>
              <a:buFont typeface="+mj-lt"/>
              <a:buAutoNum type="romanLcParenR"/>
            </a:pPr>
            <a:r>
              <a:rPr lang="en-US" sz="1600" b="1" kern="100" dirty="0">
                <a:solidFill>
                  <a:srgbClr val="00000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rPr>
              <a:t>The delivery charges are the lowest in the month of September.</a:t>
            </a:r>
            <a:endParaRPr lang="en-US" sz="1600" b="1"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0"/>
              </a:spcAft>
              <a:buFont typeface="+mj-lt"/>
              <a:buAutoNum type="romanLcParenR"/>
            </a:pPr>
            <a:r>
              <a:rPr lang="en-US" sz="1600" b="1" kern="100" dirty="0">
                <a:solidFill>
                  <a:srgbClr val="00000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rPr>
              <a:t>The delivery charges were the lowest during late evening in the month of September.</a:t>
            </a:r>
            <a:endParaRPr lang="en-US" sz="1600" b="1" kern="1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7324B7C-677C-04E4-83A6-2806DD923114}"/>
              </a:ext>
            </a:extLst>
          </p:cNvPr>
          <p:cNvSpPr txBox="1"/>
          <p:nvPr/>
        </p:nvSpPr>
        <p:spPr>
          <a:xfrm>
            <a:off x="-889907" y="639857"/>
            <a:ext cx="10621736" cy="407035"/>
          </a:xfrm>
          <a:prstGeom prst="rect">
            <a:avLst/>
          </a:prstGeom>
          <a:noFill/>
        </p:spPr>
        <p:txBody>
          <a:bodyPr wrap="square">
            <a:spAutoFit/>
          </a:bodyPr>
          <a:lstStyle/>
          <a:p>
            <a:pPr marR="0" lvl="2">
              <a:lnSpc>
                <a:spcPct val="107000"/>
              </a:lnSpc>
              <a:spcBef>
                <a:spcPts val="0"/>
              </a:spcBef>
              <a:spcAft>
                <a:spcPts val="1200"/>
              </a:spcAft>
            </a:pPr>
            <a:r>
              <a:rPr lang="en-US" sz="2000" b="1" kern="0" dirty="0">
                <a:solidFill>
                  <a:srgbClr val="00B050"/>
                </a:solidFill>
                <a:effectLst/>
                <a:highlight>
                  <a:srgbClr val="FFFFFF"/>
                </a:highlight>
                <a:latin typeface="Calibri" panose="020F0502020204030204" pitchFamily="34" charset="0"/>
                <a:ea typeface="Times New Roman" panose="02020603050405020304" pitchFamily="18" charset="0"/>
                <a:cs typeface="Calibri" panose="020F0502020204030204" pitchFamily="34" charset="0"/>
              </a:rPr>
              <a:t>2. Calculate delivery charges as a percentage of product amount at slot and month level.</a:t>
            </a:r>
            <a:endParaRPr lang="en-US" kern="100" dirty="0">
              <a:solidFill>
                <a:srgbClr val="00B05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89071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2EE662-989B-4CEA-B22D-2A8E55483F95}"/>
              </a:ext>
            </a:extLst>
          </p:cNvPr>
          <p:cNvSpPr txBox="1"/>
          <p:nvPr/>
        </p:nvSpPr>
        <p:spPr>
          <a:xfrm>
            <a:off x="-487135" y="349842"/>
            <a:ext cx="9674678" cy="407035"/>
          </a:xfrm>
          <a:prstGeom prst="rect">
            <a:avLst/>
          </a:prstGeom>
          <a:noFill/>
        </p:spPr>
        <p:txBody>
          <a:bodyPr wrap="square">
            <a:spAutoFit/>
          </a:bodyPr>
          <a:lstStyle/>
          <a:p>
            <a:pPr marR="0" lvl="2">
              <a:lnSpc>
                <a:spcPct val="107000"/>
              </a:lnSpc>
              <a:spcBef>
                <a:spcPts val="0"/>
              </a:spcBef>
              <a:spcAft>
                <a:spcPts val="1200"/>
              </a:spcAft>
            </a:pPr>
            <a:r>
              <a:rPr lang="en-US" sz="2000" b="1" kern="0" dirty="0">
                <a:solidFill>
                  <a:srgbClr val="00B050"/>
                </a:solidFill>
                <a:effectLst/>
                <a:highlight>
                  <a:srgbClr val="FFFFFF"/>
                </a:highlight>
                <a:latin typeface="Calibri" panose="020F0502020204030204" pitchFamily="34" charset="0"/>
                <a:ea typeface="Times New Roman" panose="02020603050405020304" pitchFamily="18" charset="0"/>
                <a:cs typeface="Calibri" panose="020F0502020204030204" pitchFamily="34" charset="0"/>
              </a:rPr>
              <a:t>3. Calculate discount as a percentage of product amount at slot and month level.</a:t>
            </a:r>
            <a:endParaRPr lang="en-US" kern="100" dirty="0">
              <a:solidFill>
                <a:srgbClr val="00B05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Chart 3">
            <a:extLst>
              <a:ext uri="{FF2B5EF4-FFF2-40B4-BE49-F238E27FC236}">
                <a16:creationId xmlns:a16="http://schemas.microsoft.com/office/drawing/2014/main" id="{7957F736-796D-96CD-487F-DF2328B77C61}"/>
              </a:ext>
            </a:extLst>
          </p:cNvPr>
          <p:cNvGraphicFramePr/>
          <p:nvPr>
            <p:extLst>
              <p:ext uri="{D42A27DB-BD31-4B8C-83A1-F6EECF244321}">
                <p14:modId xmlns:p14="http://schemas.microsoft.com/office/powerpoint/2010/main" val="645725400"/>
              </p:ext>
            </p:extLst>
          </p:nvPr>
        </p:nvGraphicFramePr>
        <p:xfrm>
          <a:off x="1378404" y="960845"/>
          <a:ext cx="6785882" cy="3197497"/>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2ED2738D-ECA6-5EDE-4F23-2350F53D0939}"/>
              </a:ext>
            </a:extLst>
          </p:cNvPr>
          <p:cNvSpPr txBox="1"/>
          <p:nvPr/>
        </p:nvSpPr>
        <p:spPr>
          <a:xfrm>
            <a:off x="1104900" y="4525596"/>
            <a:ext cx="6863442" cy="1852623"/>
          </a:xfrm>
          <a:prstGeom prst="rect">
            <a:avLst/>
          </a:prstGeom>
          <a:noFill/>
        </p:spPr>
        <p:txBody>
          <a:bodyPr wrap="square">
            <a:spAutoFit/>
          </a:bodyPr>
          <a:lstStyle/>
          <a:p>
            <a:pPr marL="342900" marR="0" lvl="0" indent="-342900">
              <a:lnSpc>
                <a:spcPct val="107000"/>
              </a:lnSpc>
              <a:spcBef>
                <a:spcPts val="0"/>
              </a:spcBef>
              <a:spcAft>
                <a:spcPts val="1200"/>
              </a:spcAft>
              <a:buFont typeface="+mj-lt"/>
              <a:buAutoNum type="romanLcParenR"/>
            </a:pPr>
            <a:r>
              <a:rPr lang="en-US" sz="1600" b="1" kern="100" dirty="0">
                <a:solidFill>
                  <a:srgbClr val="000000"/>
                </a:solidFill>
                <a:effectLst/>
                <a:highlight>
                  <a:srgbClr val="FFFFFF"/>
                </a:highlight>
                <a:ea typeface="Calibri" panose="020F0502020204030204" pitchFamily="34" charset="0"/>
                <a:cs typeface="Times New Roman" panose="02020603050405020304" pitchFamily="18" charset="0"/>
              </a:rPr>
              <a:t>The highest discounts are available in the month of August.</a:t>
            </a:r>
            <a:endParaRPr lang="en-US" sz="1600" b="1" kern="100" dirty="0">
              <a:effectLst/>
              <a:highlight>
                <a:srgbClr val="FFFFFF"/>
              </a:highligh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0"/>
              </a:spcAft>
              <a:buFont typeface="+mj-lt"/>
              <a:buAutoNum type="romanLcParenR"/>
            </a:pPr>
            <a:r>
              <a:rPr lang="en-US" sz="1600" b="1" kern="100" dirty="0">
                <a:solidFill>
                  <a:srgbClr val="000000"/>
                </a:solidFill>
                <a:effectLst/>
                <a:highlight>
                  <a:srgbClr val="FFFFFF"/>
                </a:highlight>
                <a:ea typeface="Calibri" panose="020F0502020204030204" pitchFamily="34" charset="0"/>
                <a:cs typeface="Times New Roman" panose="02020603050405020304" pitchFamily="18" charset="0"/>
              </a:rPr>
              <a:t>The lowest discounts are available in the month of February.</a:t>
            </a:r>
            <a:endParaRPr lang="en-US" sz="1600" b="1" kern="100" dirty="0">
              <a:effectLst/>
              <a:highlight>
                <a:srgbClr val="FFFFFF"/>
              </a:highligh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0"/>
              </a:spcAft>
              <a:buFont typeface="+mj-lt"/>
              <a:buAutoNum type="romanLcParenR"/>
            </a:pPr>
            <a:r>
              <a:rPr lang="en-US" sz="1600" b="1" kern="100" dirty="0">
                <a:solidFill>
                  <a:srgbClr val="000000"/>
                </a:solidFill>
                <a:effectLst/>
                <a:highlight>
                  <a:srgbClr val="FFFFFF"/>
                </a:highlight>
                <a:ea typeface="Calibri" panose="020F0502020204030204" pitchFamily="34" charset="0"/>
                <a:cs typeface="Times New Roman" panose="02020603050405020304" pitchFamily="18" charset="0"/>
              </a:rPr>
              <a:t>The highest discounts were available during the nights in August.</a:t>
            </a:r>
            <a:endParaRPr lang="en-US" sz="1600" b="1" kern="100" dirty="0">
              <a:effectLst/>
              <a:highlight>
                <a:srgbClr val="FFFFFF"/>
              </a:highligh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0"/>
              </a:spcAft>
              <a:buFont typeface="+mj-lt"/>
              <a:buAutoNum type="romanLcParenR"/>
            </a:pPr>
            <a:r>
              <a:rPr lang="en-US" sz="1600" b="1" kern="100" dirty="0">
                <a:solidFill>
                  <a:srgbClr val="000000"/>
                </a:solidFill>
                <a:effectLst/>
                <a:highlight>
                  <a:srgbClr val="FFFFFF"/>
                </a:highlight>
                <a:ea typeface="Calibri" panose="020F0502020204030204" pitchFamily="34" charset="0"/>
                <a:cs typeface="Times New Roman" panose="02020603050405020304" pitchFamily="18" charset="0"/>
              </a:rPr>
              <a:t>The lowest discounts were available during the evening in February.</a:t>
            </a:r>
            <a:endParaRPr lang="en-US" sz="1600" b="1" kern="100" dirty="0">
              <a:effectLst/>
              <a:highlight>
                <a:srgbClr val="FFFFFF"/>
              </a:highligh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79024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7679CA-A0F0-AE65-8947-D7067C519CCD}"/>
              </a:ext>
            </a:extLst>
          </p:cNvPr>
          <p:cNvSpPr txBox="1"/>
          <p:nvPr/>
        </p:nvSpPr>
        <p:spPr>
          <a:xfrm>
            <a:off x="459922" y="817653"/>
            <a:ext cx="6101442" cy="469809"/>
          </a:xfrm>
          <a:prstGeom prst="rect">
            <a:avLst/>
          </a:prstGeom>
          <a:noFill/>
        </p:spPr>
        <p:txBody>
          <a:bodyPr wrap="square">
            <a:spAutoFit/>
          </a:bodyPr>
          <a:lstStyle/>
          <a:p>
            <a:pPr marR="0">
              <a:lnSpc>
                <a:spcPct val="107000"/>
              </a:lnSpc>
              <a:spcBef>
                <a:spcPts val="0"/>
              </a:spcBef>
              <a:spcAft>
                <a:spcPts val="0"/>
              </a:spcAft>
            </a:pPr>
            <a:r>
              <a:rPr lang="en-US" sz="2400" dirty="0">
                <a:solidFill>
                  <a:srgbClr val="92D050"/>
                </a:solidFill>
                <a:latin typeface="Arial Black" panose="020B0A04020102020204" pitchFamily="34" charset="0"/>
              </a:rPr>
              <a:t>Completion Rate Analysis:</a:t>
            </a:r>
            <a:endParaRPr lang="en-US" sz="2400" kern="0" dirty="0">
              <a:solidFill>
                <a:srgbClr val="92D050"/>
              </a:solidFill>
              <a:highlight>
                <a:srgbClr val="FFFFFF"/>
              </a:highlight>
              <a:latin typeface="Arial Black" panose="020B0A0402010202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19CF575E-AE62-1900-D76E-699972F92E70}"/>
              </a:ext>
            </a:extLst>
          </p:cNvPr>
          <p:cNvSpPr txBox="1"/>
          <p:nvPr/>
        </p:nvSpPr>
        <p:spPr>
          <a:xfrm>
            <a:off x="459921" y="1341891"/>
            <a:ext cx="9097735" cy="369332"/>
          </a:xfrm>
          <a:prstGeom prst="rect">
            <a:avLst/>
          </a:prstGeom>
          <a:noFill/>
        </p:spPr>
        <p:txBody>
          <a:bodyPr wrap="square">
            <a:spAutoFit/>
          </a:bodyPr>
          <a:lstStyle/>
          <a:p>
            <a:r>
              <a:rPr lang="en-US" sz="1800" b="1" kern="0" dirty="0">
                <a:solidFill>
                  <a:srgbClr val="00B050"/>
                </a:solidFill>
                <a:effectLst/>
                <a:ea typeface="Times New Roman" panose="02020603050405020304" pitchFamily="18" charset="0"/>
              </a:rPr>
              <a:t>1. Identify Completion rate at slot vs day of the week (Sunday to Saturday) level. </a:t>
            </a:r>
            <a:endParaRPr lang="en-US" dirty="0">
              <a:solidFill>
                <a:srgbClr val="00B050"/>
              </a:solidFill>
            </a:endParaRPr>
          </a:p>
        </p:txBody>
      </p:sp>
      <p:graphicFrame>
        <p:nvGraphicFramePr>
          <p:cNvPr id="6" name="Chart 5">
            <a:extLst>
              <a:ext uri="{FF2B5EF4-FFF2-40B4-BE49-F238E27FC236}">
                <a16:creationId xmlns:a16="http://schemas.microsoft.com/office/drawing/2014/main" id="{619DC7B5-FBC3-58F7-8DCE-91E02A811CEC}"/>
              </a:ext>
            </a:extLst>
          </p:cNvPr>
          <p:cNvGraphicFramePr/>
          <p:nvPr>
            <p:extLst>
              <p:ext uri="{D42A27DB-BD31-4B8C-83A1-F6EECF244321}">
                <p14:modId xmlns:p14="http://schemas.microsoft.com/office/powerpoint/2010/main" val="2357494741"/>
              </p:ext>
            </p:extLst>
          </p:nvPr>
        </p:nvGraphicFramePr>
        <p:xfrm>
          <a:off x="1694767" y="1920013"/>
          <a:ext cx="6628041" cy="2734945"/>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B75E0873-F6EE-AF63-724F-46ED85B44C09}"/>
              </a:ext>
            </a:extLst>
          </p:cNvPr>
          <p:cNvSpPr txBox="1"/>
          <p:nvPr/>
        </p:nvSpPr>
        <p:spPr>
          <a:xfrm>
            <a:off x="459921" y="4939948"/>
            <a:ext cx="7192735" cy="1589153"/>
          </a:xfrm>
          <a:prstGeom prst="rect">
            <a:avLst/>
          </a:prstGeom>
          <a:noFill/>
        </p:spPr>
        <p:txBody>
          <a:bodyPr wrap="square">
            <a:spAutoFit/>
          </a:bodyPr>
          <a:lstStyle/>
          <a:p>
            <a:pPr marL="342900" marR="0" lvl="0" indent="-342900">
              <a:lnSpc>
                <a:spcPct val="107000"/>
              </a:lnSpc>
              <a:spcBef>
                <a:spcPts val="0"/>
              </a:spcBef>
              <a:spcAft>
                <a:spcPts val="1200"/>
              </a:spcAft>
              <a:buFont typeface="+mj-lt"/>
              <a:buAutoNum type="romanLcParenR"/>
            </a:pPr>
            <a:r>
              <a:rPr lang="en-US" sz="1600" b="1" kern="0" dirty="0">
                <a:solidFill>
                  <a:srgbClr val="202B45"/>
                </a:solidFill>
                <a:effectLst/>
                <a:highlight>
                  <a:srgbClr val="FFFFFF"/>
                </a:highlight>
                <a:ea typeface="Times New Roman" panose="02020603050405020304" pitchFamily="18" charset="0"/>
                <a:cs typeface="Calibri" panose="020F0502020204030204" pitchFamily="34" charset="0"/>
              </a:rPr>
              <a:t>There are relatively high orders numbers on Sunday afternoon.</a:t>
            </a:r>
            <a:endParaRPr lang="en-US" sz="1400" b="1" kern="100" dirty="0">
              <a:effectLst/>
              <a:highlight>
                <a:srgbClr val="FFFFFF"/>
              </a:highligh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0"/>
              </a:spcAft>
              <a:buFont typeface="+mj-lt"/>
              <a:buAutoNum type="romanLcParenR"/>
            </a:pPr>
            <a:r>
              <a:rPr lang="en-US" sz="1600" b="1" kern="0" dirty="0">
                <a:solidFill>
                  <a:srgbClr val="202B45"/>
                </a:solidFill>
                <a:effectLst/>
                <a:highlight>
                  <a:srgbClr val="FFFFFF"/>
                </a:highlight>
                <a:ea typeface="Times New Roman" panose="02020603050405020304" pitchFamily="18" charset="0"/>
                <a:cs typeface="Calibri" panose="020F0502020204030204" pitchFamily="34" charset="0"/>
              </a:rPr>
              <a:t>There is relatively high incompletion flag on Saturday night.</a:t>
            </a:r>
            <a:endParaRPr lang="en-US" sz="1400" b="1" kern="100" dirty="0">
              <a:effectLst/>
              <a:highlight>
                <a:srgbClr val="FFFFFF"/>
              </a:highligh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0"/>
              </a:spcAft>
              <a:buFont typeface="+mj-lt"/>
              <a:buAutoNum type="romanLcParenR"/>
            </a:pPr>
            <a:r>
              <a:rPr lang="en-US" sz="1600" b="1" kern="0" dirty="0">
                <a:solidFill>
                  <a:srgbClr val="202B45"/>
                </a:solidFill>
                <a:effectLst/>
                <a:highlight>
                  <a:srgbClr val="FFFFFF"/>
                </a:highlight>
                <a:ea typeface="Times New Roman" panose="02020603050405020304" pitchFamily="18" charset="0"/>
                <a:cs typeface="Calibri" panose="020F0502020204030204" pitchFamily="34" charset="0"/>
              </a:rPr>
              <a:t>There is less order in Sunday evening.</a:t>
            </a:r>
            <a:endParaRPr lang="en-US" sz="1400" b="1" kern="100" dirty="0">
              <a:effectLst/>
              <a:highlight>
                <a:srgbClr val="FFFFFF"/>
              </a:highligh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0"/>
              </a:spcAft>
              <a:buFont typeface="+mj-lt"/>
              <a:buAutoNum type="romanLcParenR"/>
            </a:pPr>
            <a:r>
              <a:rPr lang="en-US" sz="1600" b="1" kern="0" dirty="0">
                <a:solidFill>
                  <a:srgbClr val="202B45"/>
                </a:solidFill>
                <a:effectLst/>
                <a:highlight>
                  <a:srgbClr val="FFFFFF"/>
                </a:highlight>
                <a:ea typeface="Times New Roman" panose="02020603050405020304" pitchFamily="18" charset="0"/>
                <a:cs typeface="Calibri" panose="020F0502020204030204" pitchFamily="34" charset="0"/>
              </a:rPr>
              <a:t>Afternoon is the peak slot as most of the orders coming in afternoon.</a:t>
            </a:r>
            <a:endParaRPr lang="en-US" sz="1400" b="1" kern="100" dirty="0">
              <a:effectLst/>
              <a:highlight>
                <a:srgbClr val="FFFFFF"/>
              </a:highligh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14675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671724-F45F-CED6-C850-3BAF6BA6D052}"/>
              </a:ext>
            </a:extLst>
          </p:cNvPr>
          <p:cNvSpPr txBox="1"/>
          <p:nvPr/>
        </p:nvSpPr>
        <p:spPr>
          <a:xfrm>
            <a:off x="-138792" y="737510"/>
            <a:ext cx="6101442" cy="470000"/>
          </a:xfrm>
          <a:prstGeom prst="rect">
            <a:avLst/>
          </a:prstGeom>
          <a:noFill/>
        </p:spPr>
        <p:txBody>
          <a:bodyPr wrap="square">
            <a:spAutoFit/>
          </a:bodyPr>
          <a:lstStyle/>
          <a:p>
            <a:pPr marR="0" lvl="1">
              <a:lnSpc>
                <a:spcPct val="107000"/>
              </a:lnSpc>
              <a:spcBef>
                <a:spcPts val="0"/>
              </a:spcBef>
              <a:spcAft>
                <a:spcPts val="1200"/>
              </a:spcAft>
            </a:pPr>
            <a:r>
              <a:rPr lang="en-US" sz="2400" b="1" kern="0" dirty="0">
                <a:solidFill>
                  <a:srgbClr val="92D050"/>
                </a:solidFill>
                <a:effectLst/>
                <a:highlight>
                  <a:srgbClr val="FFFFFF"/>
                </a:highlight>
                <a:ea typeface="Times New Roman" panose="02020603050405020304" pitchFamily="18" charset="0"/>
                <a:cs typeface="Calibri" panose="020F0502020204030204" pitchFamily="34" charset="0"/>
              </a:rPr>
              <a:t>Customer Level Analysis:</a:t>
            </a:r>
            <a:endParaRPr lang="en-US" sz="2000" kern="100" dirty="0">
              <a:solidFill>
                <a:srgbClr val="92D050"/>
              </a:solidFill>
              <a:effectLst/>
              <a:highlight>
                <a:srgbClr val="FFFFFF"/>
              </a:highlight>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2126FAF-51C1-ACBA-39C7-CFBE157712CC}"/>
              </a:ext>
            </a:extLst>
          </p:cNvPr>
          <p:cNvSpPr txBox="1"/>
          <p:nvPr/>
        </p:nvSpPr>
        <p:spPr>
          <a:xfrm>
            <a:off x="-209550" y="1207510"/>
            <a:ext cx="6172200" cy="375552"/>
          </a:xfrm>
          <a:prstGeom prst="rect">
            <a:avLst/>
          </a:prstGeom>
          <a:noFill/>
        </p:spPr>
        <p:txBody>
          <a:bodyPr wrap="square">
            <a:spAutoFit/>
          </a:bodyPr>
          <a:lstStyle/>
          <a:p>
            <a:pPr marL="1143000" marR="0" lvl="2" indent="-228600">
              <a:lnSpc>
                <a:spcPct val="107000"/>
              </a:lnSpc>
              <a:spcBef>
                <a:spcPts val="0"/>
              </a:spcBef>
              <a:spcAft>
                <a:spcPts val="1200"/>
              </a:spcAft>
              <a:buFont typeface="+mj-lt"/>
              <a:buAutoNum type="arabicPeriod"/>
            </a:pPr>
            <a:r>
              <a:rPr lang="en-US" b="1" kern="0" dirty="0">
                <a:solidFill>
                  <a:srgbClr val="00B050"/>
                </a:solidFill>
                <a:effectLst/>
                <a:highlight>
                  <a:srgbClr val="FFFFFF"/>
                </a:highlight>
                <a:ea typeface="Times New Roman" panose="02020603050405020304" pitchFamily="18" charset="0"/>
                <a:cs typeface="Calibri" panose="020F0502020204030204" pitchFamily="34" charset="0"/>
              </a:rPr>
              <a:t>Identify Completion rate at source level.</a:t>
            </a:r>
            <a:endParaRPr lang="en-US" sz="1600" kern="100" dirty="0">
              <a:solidFill>
                <a:srgbClr val="00B050"/>
              </a:solidFill>
              <a:effectLst/>
              <a:highlight>
                <a:srgbClr val="FFFFFF"/>
              </a:highlight>
              <a:ea typeface="Calibri" panose="020F0502020204030204" pitchFamily="34"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34D220EB-0A18-EB0B-2D1B-7625462D13E8}"/>
              </a:ext>
            </a:extLst>
          </p:cNvPr>
          <p:cNvGraphicFramePr/>
          <p:nvPr>
            <p:extLst>
              <p:ext uri="{D42A27DB-BD31-4B8C-83A1-F6EECF244321}">
                <p14:modId xmlns:p14="http://schemas.microsoft.com/office/powerpoint/2010/main" val="2649066432"/>
              </p:ext>
            </p:extLst>
          </p:nvPr>
        </p:nvGraphicFramePr>
        <p:xfrm>
          <a:off x="1857147" y="1850571"/>
          <a:ext cx="6796995" cy="313993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4709696C-715E-9C6B-58E4-B9A00C9BB398}"/>
              </a:ext>
            </a:extLst>
          </p:cNvPr>
          <p:cNvSpPr txBox="1"/>
          <p:nvPr/>
        </p:nvSpPr>
        <p:spPr>
          <a:xfrm>
            <a:off x="664029" y="5366053"/>
            <a:ext cx="6204856" cy="754437"/>
          </a:xfrm>
          <a:prstGeom prst="rect">
            <a:avLst/>
          </a:prstGeom>
          <a:noFill/>
        </p:spPr>
        <p:txBody>
          <a:bodyPr wrap="square">
            <a:spAutoFit/>
          </a:bodyPr>
          <a:lstStyle/>
          <a:p>
            <a:pPr marL="342900" marR="0" lvl="0" indent="-342900">
              <a:lnSpc>
                <a:spcPct val="107000"/>
              </a:lnSpc>
              <a:spcBef>
                <a:spcPts val="0"/>
              </a:spcBef>
              <a:spcAft>
                <a:spcPts val="1200"/>
              </a:spcAft>
              <a:buFont typeface="+mj-lt"/>
              <a:buAutoNum type="romanLcParenR"/>
            </a:pPr>
            <a:r>
              <a:rPr lang="en-US" sz="1600" b="1" kern="100" dirty="0">
                <a:solidFill>
                  <a:srgbClr val="000000"/>
                </a:solidFill>
                <a:effectLst/>
                <a:highlight>
                  <a:srgbClr val="FFFFFF"/>
                </a:highlight>
                <a:ea typeface="Calibri" panose="020F0502020204030204" pitchFamily="34" charset="0"/>
                <a:cs typeface="Times New Roman" panose="02020603050405020304" pitchFamily="18" charset="0"/>
              </a:rPr>
              <a:t>The highest completion rate is from organic sources.</a:t>
            </a:r>
            <a:endParaRPr lang="en-US" sz="1600" b="1" kern="100" dirty="0">
              <a:effectLst/>
              <a:highlight>
                <a:srgbClr val="FFFFFF"/>
              </a:highligh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0"/>
              </a:spcAft>
              <a:buFont typeface="+mj-lt"/>
              <a:buAutoNum type="romanLcParenR"/>
            </a:pPr>
            <a:r>
              <a:rPr lang="en-US" sz="1600" b="1" kern="100" dirty="0">
                <a:solidFill>
                  <a:srgbClr val="000000"/>
                </a:solidFill>
                <a:effectLst/>
                <a:highlight>
                  <a:srgbClr val="FFFFFF"/>
                </a:highlight>
                <a:ea typeface="Calibri" panose="020F0502020204030204" pitchFamily="34" charset="0"/>
                <a:cs typeface="Times New Roman" panose="02020603050405020304" pitchFamily="18" charset="0"/>
              </a:rPr>
              <a:t>The lowest completion rate is from Snapchat sources.</a:t>
            </a:r>
            <a:endParaRPr lang="en-US" sz="1600" b="1" kern="100" dirty="0">
              <a:effectLst/>
              <a:highlight>
                <a:srgbClr val="FFFFFF"/>
              </a:highligh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14850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897DC2-C04A-EE11-68D7-FA525FA6E7F9}"/>
              </a:ext>
            </a:extLst>
          </p:cNvPr>
          <p:cNvSpPr txBox="1"/>
          <p:nvPr/>
        </p:nvSpPr>
        <p:spPr>
          <a:xfrm>
            <a:off x="0" y="911681"/>
            <a:ext cx="4049486" cy="470000"/>
          </a:xfrm>
          <a:prstGeom prst="rect">
            <a:avLst/>
          </a:prstGeom>
          <a:noFill/>
        </p:spPr>
        <p:txBody>
          <a:bodyPr wrap="square">
            <a:spAutoFit/>
          </a:bodyPr>
          <a:lstStyle/>
          <a:p>
            <a:pPr marR="0" lvl="1">
              <a:lnSpc>
                <a:spcPct val="107000"/>
              </a:lnSpc>
              <a:spcBef>
                <a:spcPts val="0"/>
              </a:spcBef>
              <a:spcAft>
                <a:spcPts val="1200"/>
              </a:spcAft>
            </a:pPr>
            <a:r>
              <a:rPr lang="en-US" sz="2400" b="1" kern="0" dirty="0">
                <a:solidFill>
                  <a:srgbClr val="92D050"/>
                </a:solidFill>
                <a:effectLst/>
                <a:highlight>
                  <a:srgbClr val="FFFFFF"/>
                </a:highlight>
                <a:latin typeface="Arial Black" panose="020B0A04020102020204" pitchFamily="34" charset="0"/>
                <a:ea typeface="Times New Roman" panose="02020603050405020304" pitchFamily="18" charset="0"/>
                <a:cs typeface="Calibri" panose="020F0502020204030204" pitchFamily="34" charset="0"/>
              </a:rPr>
              <a:t>Delivery Analysis:</a:t>
            </a:r>
            <a:endParaRPr lang="en-US" sz="2000" kern="100" dirty="0">
              <a:solidFill>
                <a:srgbClr val="92D050"/>
              </a:solidFill>
              <a:effectLst/>
              <a:highlight>
                <a:srgbClr val="FFFFFF"/>
              </a:highlight>
              <a:latin typeface="Arial Black" panose="020B0A0402010202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0711D18-4350-5103-1194-AEDC27D57226}"/>
              </a:ext>
            </a:extLst>
          </p:cNvPr>
          <p:cNvSpPr txBox="1"/>
          <p:nvPr/>
        </p:nvSpPr>
        <p:spPr>
          <a:xfrm>
            <a:off x="-95251" y="1381681"/>
            <a:ext cx="9794421" cy="367665"/>
          </a:xfrm>
          <a:prstGeom prst="rect">
            <a:avLst/>
          </a:prstGeom>
          <a:noFill/>
        </p:spPr>
        <p:txBody>
          <a:bodyPr wrap="square">
            <a:spAutoFit/>
          </a:bodyPr>
          <a:lstStyle/>
          <a:p>
            <a:pPr marL="1143000" marR="0" lvl="2" indent="-228600">
              <a:lnSpc>
                <a:spcPct val="107000"/>
              </a:lnSpc>
              <a:spcBef>
                <a:spcPts val="0"/>
              </a:spcBef>
              <a:spcAft>
                <a:spcPts val="1200"/>
              </a:spcAft>
              <a:buFont typeface="+mj-lt"/>
              <a:buAutoNum type="arabicPeriod"/>
            </a:pPr>
            <a:r>
              <a:rPr lang="en-US" sz="1800" b="1" kern="0" dirty="0">
                <a:solidFill>
                  <a:srgbClr val="00B050"/>
                </a:solidFill>
                <a:effectLst/>
                <a:highlight>
                  <a:srgbClr val="FFFFFF"/>
                </a:highlight>
                <a:ea typeface="Times New Roman" panose="02020603050405020304" pitchFamily="18" charset="0"/>
                <a:cs typeface="Calibri" panose="020F0502020204030204" pitchFamily="34" charset="0"/>
              </a:rPr>
              <a:t>Calculate average overall delivery time at month and weekday/weekend level.</a:t>
            </a:r>
            <a:endParaRPr lang="en-US" sz="1600" kern="100" dirty="0">
              <a:solidFill>
                <a:srgbClr val="00B050"/>
              </a:solidFill>
              <a:effectLst/>
              <a:highlight>
                <a:srgbClr val="FFFFFF"/>
              </a:highlight>
              <a:ea typeface="Calibri" panose="020F0502020204030204" pitchFamily="34"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10B6DC74-F4F1-1E77-489A-D6A38D40C9A2}"/>
              </a:ext>
            </a:extLst>
          </p:cNvPr>
          <p:cNvGraphicFramePr/>
          <p:nvPr>
            <p:extLst>
              <p:ext uri="{D42A27DB-BD31-4B8C-83A1-F6EECF244321}">
                <p14:modId xmlns:p14="http://schemas.microsoft.com/office/powerpoint/2010/main" val="745708570"/>
              </p:ext>
            </p:extLst>
          </p:nvPr>
        </p:nvGraphicFramePr>
        <p:xfrm>
          <a:off x="1746475" y="2090116"/>
          <a:ext cx="6896783" cy="3091916"/>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42C1B423-2B5A-ABA6-95D2-CE316AF87BBF}"/>
              </a:ext>
            </a:extLst>
          </p:cNvPr>
          <p:cNvSpPr txBox="1"/>
          <p:nvPr/>
        </p:nvSpPr>
        <p:spPr>
          <a:xfrm>
            <a:off x="865415" y="5522802"/>
            <a:ext cx="6896782" cy="1024896"/>
          </a:xfrm>
          <a:prstGeom prst="rect">
            <a:avLst/>
          </a:prstGeom>
          <a:noFill/>
        </p:spPr>
        <p:txBody>
          <a:bodyPr wrap="square">
            <a:spAutoFit/>
          </a:bodyPr>
          <a:lstStyle/>
          <a:p>
            <a:pPr marL="342900" marR="0" lvl="0" indent="-342900">
              <a:lnSpc>
                <a:spcPct val="107000"/>
              </a:lnSpc>
              <a:spcBef>
                <a:spcPts val="0"/>
              </a:spcBef>
              <a:spcAft>
                <a:spcPts val="1200"/>
              </a:spcAft>
              <a:buFont typeface="+mj-lt"/>
              <a:buAutoNum type="romanLcParenR"/>
            </a:pPr>
            <a:r>
              <a:rPr lang="en-US" sz="1600" b="1" kern="100" dirty="0">
                <a:solidFill>
                  <a:srgbClr val="000000"/>
                </a:solidFill>
                <a:effectLst/>
                <a:highlight>
                  <a:srgbClr val="FFFFFF"/>
                </a:highlight>
                <a:ea typeface="Calibri" panose="020F0502020204030204" pitchFamily="34" charset="0"/>
                <a:cs typeface="Times New Roman" panose="02020603050405020304" pitchFamily="18" charset="0"/>
              </a:rPr>
              <a:t>The delivery time is longer on weekends compared to weekdays</a:t>
            </a:r>
            <a:endParaRPr lang="en-US" sz="1600" b="1" kern="100" dirty="0">
              <a:effectLst/>
              <a:highlight>
                <a:srgbClr val="FFFFFF"/>
              </a:highligh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1200"/>
              </a:spcAft>
              <a:buFont typeface="+mj-lt"/>
              <a:buAutoNum type="romanLcParenR"/>
            </a:pPr>
            <a:r>
              <a:rPr lang="en-US" sz="1600" b="1" kern="100" dirty="0">
                <a:solidFill>
                  <a:srgbClr val="000000"/>
                </a:solidFill>
                <a:effectLst/>
                <a:highlight>
                  <a:srgbClr val="FFFFFF"/>
                </a:highlight>
                <a:ea typeface="Calibri" panose="020F0502020204030204" pitchFamily="34" charset="0"/>
                <a:cs typeface="Times New Roman" panose="02020603050405020304" pitchFamily="18" charset="0"/>
              </a:rPr>
              <a:t>In the month of May, the longest delivery times occurred on both weekdays and weekends.</a:t>
            </a:r>
            <a:endParaRPr lang="en-US" sz="1600" b="1" kern="100" dirty="0">
              <a:effectLst/>
              <a:highlight>
                <a:srgbClr val="FFFFFF"/>
              </a:highligh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53517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88895B-7F2A-1FE1-4B81-06CB90C4AA24}"/>
              </a:ext>
            </a:extLst>
          </p:cNvPr>
          <p:cNvSpPr txBox="1"/>
          <p:nvPr/>
        </p:nvSpPr>
        <p:spPr>
          <a:xfrm>
            <a:off x="-214993" y="1079185"/>
            <a:ext cx="7943849" cy="367665"/>
          </a:xfrm>
          <a:prstGeom prst="rect">
            <a:avLst/>
          </a:prstGeom>
          <a:noFill/>
        </p:spPr>
        <p:txBody>
          <a:bodyPr wrap="square">
            <a:spAutoFit/>
          </a:bodyPr>
          <a:lstStyle/>
          <a:p>
            <a:pPr marR="0" lvl="2">
              <a:lnSpc>
                <a:spcPct val="107000"/>
              </a:lnSpc>
              <a:spcBef>
                <a:spcPts val="0"/>
              </a:spcBef>
              <a:spcAft>
                <a:spcPts val="1200"/>
              </a:spcAft>
            </a:pPr>
            <a:r>
              <a:rPr lang="en-US" sz="1800" b="1" kern="0" dirty="0">
                <a:solidFill>
                  <a:srgbClr val="00B050"/>
                </a:solidFill>
                <a:effectLst/>
                <a:highlight>
                  <a:srgbClr val="FFFFFF"/>
                </a:highlight>
                <a:ea typeface="Times New Roman" panose="02020603050405020304" pitchFamily="18" charset="0"/>
                <a:cs typeface="Calibri" panose="020F0502020204030204" pitchFamily="34" charset="0"/>
              </a:rPr>
              <a:t>2. Calculate average overall delivery time at slot level. </a:t>
            </a:r>
            <a:endParaRPr lang="en-US" sz="1600" kern="100" dirty="0">
              <a:solidFill>
                <a:srgbClr val="00B050"/>
              </a:solidFill>
              <a:effectLst/>
              <a:highlight>
                <a:srgbClr val="FFFFFF"/>
              </a:highlight>
              <a:ea typeface="Calibri" panose="020F0502020204030204" pitchFamily="34" charset="0"/>
              <a:cs typeface="Times New Roman" panose="02020603050405020304" pitchFamily="18" charset="0"/>
            </a:endParaRPr>
          </a:p>
        </p:txBody>
      </p:sp>
      <p:graphicFrame>
        <p:nvGraphicFramePr>
          <p:cNvPr id="4" name="Chart 3">
            <a:extLst>
              <a:ext uri="{FF2B5EF4-FFF2-40B4-BE49-F238E27FC236}">
                <a16:creationId xmlns:a16="http://schemas.microsoft.com/office/drawing/2014/main" id="{969EE309-168A-7A4F-45EE-FCC679F46FF9}"/>
              </a:ext>
            </a:extLst>
          </p:cNvPr>
          <p:cNvGraphicFramePr/>
          <p:nvPr>
            <p:extLst>
              <p:ext uri="{D42A27DB-BD31-4B8C-83A1-F6EECF244321}">
                <p14:modId xmlns:p14="http://schemas.microsoft.com/office/powerpoint/2010/main" val="2902393934"/>
              </p:ext>
            </p:extLst>
          </p:nvPr>
        </p:nvGraphicFramePr>
        <p:xfrm>
          <a:off x="1706788" y="1631949"/>
          <a:ext cx="5695497" cy="3201308"/>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F034601F-0C3D-7BAB-E237-268BB7C7A9E6}"/>
              </a:ext>
            </a:extLst>
          </p:cNvPr>
          <p:cNvSpPr txBox="1"/>
          <p:nvPr/>
        </p:nvSpPr>
        <p:spPr>
          <a:xfrm>
            <a:off x="651780" y="5442857"/>
            <a:ext cx="7077075" cy="600549"/>
          </a:xfrm>
          <a:prstGeom prst="rect">
            <a:avLst/>
          </a:prstGeom>
          <a:noFill/>
        </p:spPr>
        <p:txBody>
          <a:bodyPr wrap="square">
            <a:spAutoFit/>
          </a:bodyPr>
          <a:lstStyle/>
          <a:p>
            <a:pPr marL="342900" marR="0" lvl="0" indent="-342900">
              <a:lnSpc>
                <a:spcPct val="107000"/>
              </a:lnSpc>
              <a:spcBef>
                <a:spcPts val="0"/>
              </a:spcBef>
              <a:spcAft>
                <a:spcPts val="1200"/>
              </a:spcAft>
              <a:buFont typeface="+mj-lt"/>
              <a:buAutoNum type="romanLcParenR"/>
            </a:pPr>
            <a:r>
              <a:rPr lang="en-US" sz="1600" b="1" kern="100" dirty="0">
                <a:solidFill>
                  <a:srgbClr val="000000"/>
                </a:solidFill>
                <a:effectLst/>
                <a:highlight>
                  <a:srgbClr val="FFFFFF"/>
                </a:highlight>
                <a:ea typeface="Calibri" panose="020F0502020204030204" pitchFamily="34" charset="0"/>
                <a:cs typeface="Times New Roman" panose="02020603050405020304" pitchFamily="18" charset="0"/>
              </a:rPr>
              <a:t>Late at night, the delivery time is the shortest because of less traffic.</a:t>
            </a:r>
            <a:endParaRPr lang="en-US" sz="1600" b="1" kern="100" dirty="0">
              <a:effectLst/>
              <a:highlight>
                <a:srgbClr val="FFFFFF"/>
              </a:highligh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66382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CE4DE1-ACB2-FD2D-3032-2CCE160EC902}"/>
              </a:ext>
            </a:extLst>
          </p:cNvPr>
          <p:cNvSpPr txBox="1"/>
          <p:nvPr/>
        </p:nvSpPr>
        <p:spPr>
          <a:xfrm>
            <a:off x="612322" y="1111568"/>
            <a:ext cx="6101442" cy="469809"/>
          </a:xfrm>
          <a:prstGeom prst="rect">
            <a:avLst/>
          </a:prstGeom>
          <a:noFill/>
        </p:spPr>
        <p:txBody>
          <a:bodyPr wrap="square">
            <a:spAutoFit/>
          </a:bodyPr>
          <a:lstStyle/>
          <a:p>
            <a:pPr marR="0">
              <a:lnSpc>
                <a:spcPct val="107000"/>
              </a:lnSpc>
              <a:spcBef>
                <a:spcPts val="0"/>
              </a:spcBef>
              <a:spcAft>
                <a:spcPts val="0"/>
              </a:spcAft>
            </a:pPr>
            <a:r>
              <a:rPr lang="en-US" sz="2400" dirty="0">
                <a:solidFill>
                  <a:srgbClr val="92D050"/>
                </a:solidFill>
                <a:latin typeface="Arial Black" panose="020B0A04020102020204" pitchFamily="34" charset="0"/>
              </a:rPr>
              <a:t>Conclusion</a:t>
            </a:r>
            <a:endParaRPr lang="en-US" sz="2400" b="1" kern="0" dirty="0">
              <a:solidFill>
                <a:srgbClr val="92D050"/>
              </a:solidFill>
              <a:highlight>
                <a:srgbClr val="FFFFFF"/>
              </a:highlight>
              <a:latin typeface="Arial Black" panose="020B0A0402010202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31C9B86A-0430-37D2-E93A-11B48D6B7184}"/>
              </a:ext>
            </a:extLst>
          </p:cNvPr>
          <p:cNvSpPr txBox="1"/>
          <p:nvPr/>
        </p:nvSpPr>
        <p:spPr>
          <a:xfrm>
            <a:off x="612322" y="1948684"/>
            <a:ext cx="8539842" cy="2181366"/>
          </a:xfrm>
          <a:prstGeom prst="rect">
            <a:avLst/>
          </a:prstGeom>
          <a:noFill/>
        </p:spPr>
        <p:txBody>
          <a:bodyPr wrap="square">
            <a:spAutoFit/>
          </a:bodyPr>
          <a:lstStyle/>
          <a:p>
            <a:pPr marL="0" marR="0">
              <a:lnSpc>
                <a:spcPct val="107000"/>
              </a:lnSpc>
              <a:spcBef>
                <a:spcPts val="0"/>
              </a:spcBef>
              <a:spcAft>
                <a:spcPts val="1200"/>
              </a:spcAft>
            </a:pPr>
            <a:r>
              <a:rPr lang="en-US" sz="1600" b="1" kern="0" dirty="0">
                <a:solidFill>
                  <a:srgbClr val="202B45"/>
                </a:solidFill>
                <a:effectLst/>
                <a:highlight>
                  <a:srgbClr val="FFFFFF"/>
                </a:highlight>
                <a:ea typeface="Times New Roman" panose="02020603050405020304" pitchFamily="18" charset="0"/>
                <a:cs typeface="Calibri" panose="020F0502020204030204" pitchFamily="34" charset="0"/>
              </a:rPr>
              <a:t>Our analysis of </a:t>
            </a:r>
            <a:r>
              <a:rPr lang="en-US" sz="1600" b="1" kern="0" dirty="0" err="1">
                <a:solidFill>
                  <a:srgbClr val="202B45"/>
                </a:solidFill>
                <a:effectLst/>
                <a:highlight>
                  <a:srgbClr val="FFFFFF"/>
                </a:highlight>
                <a:ea typeface="Times New Roman" panose="02020603050405020304" pitchFamily="18" charset="0"/>
                <a:cs typeface="Calibri" panose="020F0502020204030204" pitchFamily="34" charset="0"/>
              </a:rPr>
              <a:t>Freshco</a:t>
            </a:r>
            <a:r>
              <a:rPr lang="en-US" sz="1600" b="1" kern="0" dirty="0">
                <a:solidFill>
                  <a:srgbClr val="202B45"/>
                </a:solidFill>
                <a:effectLst/>
                <a:highlight>
                  <a:srgbClr val="FFFFFF"/>
                </a:highlight>
                <a:ea typeface="Times New Roman" panose="02020603050405020304" pitchFamily="18" charset="0"/>
                <a:cs typeface="Calibri" panose="020F0502020204030204" pitchFamily="34" charset="0"/>
              </a:rPr>
              <a:t> Hypermarket's home delivery service has uncovered valuable insights across order patterns, completion rates, customer behavior, and delivery performance. While the service has shown promise since its 2021 launch, there are clear opportunities for enhancement. By implementing the recommended strategies, </a:t>
            </a:r>
            <a:r>
              <a:rPr lang="en-US" sz="1600" b="1" kern="0" dirty="0" err="1">
                <a:solidFill>
                  <a:srgbClr val="202B45"/>
                </a:solidFill>
                <a:effectLst/>
                <a:highlight>
                  <a:srgbClr val="FFFFFF"/>
                </a:highlight>
                <a:ea typeface="Times New Roman" panose="02020603050405020304" pitchFamily="18" charset="0"/>
                <a:cs typeface="Calibri" panose="020F0502020204030204" pitchFamily="34" charset="0"/>
              </a:rPr>
              <a:t>Freshco</a:t>
            </a:r>
            <a:r>
              <a:rPr lang="en-US" sz="1600" b="1" kern="0" dirty="0">
                <a:solidFill>
                  <a:srgbClr val="202B45"/>
                </a:solidFill>
                <a:effectLst/>
                <a:highlight>
                  <a:srgbClr val="FFFFFF"/>
                </a:highlight>
                <a:ea typeface="Times New Roman" panose="02020603050405020304" pitchFamily="18" charset="0"/>
                <a:cs typeface="Calibri" panose="020F0502020204030204" pitchFamily="34" charset="0"/>
              </a:rPr>
              <a:t> can expect to see improvements in operational efficiency, customer satisfaction, and overall profitability. As the home delivery market evolves, acting on these data-driven insights will be crucial for </a:t>
            </a:r>
            <a:r>
              <a:rPr lang="en-US" sz="1600" b="1" kern="0" dirty="0" err="1">
                <a:solidFill>
                  <a:srgbClr val="202B45"/>
                </a:solidFill>
                <a:effectLst/>
                <a:highlight>
                  <a:srgbClr val="FFFFFF"/>
                </a:highlight>
                <a:ea typeface="Times New Roman" panose="02020603050405020304" pitchFamily="18" charset="0"/>
                <a:cs typeface="Calibri" panose="020F0502020204030204" pitchFamily="34" charset="0"/>
              </a:rPr>
              <a:t>Freshco</a:t>
            </a:r>
            <a:r>
              <a:rPr lang="en-US" sz="1600" b="1" kern="0" dirty="0">
                <a:solidFill>
                  <a:srgbClr val="202B45"/>
                </a:solidFill>
                <a:effectLst/>
                <a:highlight>
                  <a:srgbClr val="FFFFFF"/>
                </a:highlight>
                <a:ea typeface="Times New Roman" panose="02020603050405020304" pitchFamily="18" charset="0"/>
                <a:cs typeface="Calibri" panose="020F0502020204030204" pitchFamily="34" charset="0"/>
              </a:rPr>
              <a:t> to strengthen its competitive position and meet the changing needs of its customers in the HSR, Bangalore market.</a:t>
            </a:r>
            <a:endParaRPr lang="en-US" sz="1400" b="1" kern="100" dirty="0">
              <a:effectLst/>
              <a:highlight>
                <a:srgbClr val="FFFFFF"/>
              </a:highlight>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227F4551-7C1F-F419-7E6C-E0AB67801A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0214" y="4399177"/>
            <a:ext cx="4164058" cy="2200275"/>
          </a:xfrm>
          <a:prstGeom prst="rect">
            <a:avLst/>
          </a:prstGeom>
        </p:spPr>
      </p:pic>
    </p:spTree>
    <p:extLst>
      <p:ext uri="{BB962C8B-B14F-4D97-AF65-F5344CB8AC3E}">
        <p14:creationId xmlns:p14="http://schemas.microsoft.com/office/powerpoint/2010/main" val="2729741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hank you in green centred on a white background">
            <a:extLst>
              <a:ext uri="{FF2B5EF4-FFF2-40B4-BE49-F238E27FC236}">
                <a16:creationId xmlns:a16="http://schemas.microsoft.com/office/drawing/2014/main" id="{9EE053CA-7C7A-C09B-F00B-022D54A0B2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8335" y="2171019"/>
            <a:ext cx="5475093" cy="2515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60425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121</TotalTime>
  <Words>669</Words>
  <Application>Microsoft Office PowerPoint</Application>
  <PresentationFormat>Widescreen</PresentationFormat>
  <Paragraphs>78</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Algerian</vt:lpstr>
      <vt:lpstr>Arial</vt:lpstr>
      <vt:lpstr>Arial Black</vt:lpstr>
      <vt:lpstr>Calibri</vt:lpstr>
      <vt:lpstr>Times New Roman</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kumar patel</dc:creator>
  <cp:lastModifiedBy>alok kumar patel</cp:lastModifiedBy>
  <cp:revision>1</cp:revision>
  <dcterms:created xsi:type="dcterms:W3CDTF">2024-07-28T07:29:25Z</dcterms:created>
  <dcterms:modified xsi:type="dcterms:W3CDTF">2024-07-28T09:31:07Z</dcterms:modified>
</cp:coreProperties>
</file>